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61" r:id="rId2"/>
    <p:sldId id="269" r:id="rId3"/>
    <p:sldId id="263" r:id="rId4"/>
    <p:sldId id="264" r:id="rId5"/>
    <p:sldId id="266" r:id="rId6"/>
    <p:sldId id="267" r:id="rId7"/>
    <p:sldId id="299" r:id="rId8"/>
    <p:sldId id="300" r:id="rId9"/>
    <p:sldId id="301" r:id="rId10"/>
    <p:sldId id="302" r:id="rId11"/>
    <p:sldId id="303" r:id="rId12"/>
    <p:sldId id="271" r:id="rId13"/>
    <p:sldId id="304" r:id="rId14"/>
    <p:sldId id="272" r:id="rId15"/>
    <p:sldId id="273" r:id="rId16"/>
    <p:sldId id="274" r:id="rId17"/>
    <p:sldId id="275" r:id="rId18"/>
    <p:sldId id="276" r:id="rId19"/>
    <p:sldId id="277" r:id="rId20"/>
    <p:sldId id="305" r:id="rId21"/>
    <p:sldId id="278" r:id="rId22"/>
    <p:sldId id="279" r:id="rId23"/>
    <p:sldId id="280" r:id="rId24"/>
    <p:sldId id="281" r:id="rId25"/>
    <p:sldId id="282" r:id="rId26"/>
    <p:sldId id="283" r:id="rId27"/>
    <p:sldId id="284" r:id="rId28"/>
    <p:sldId id="285" r:id="rId29"/>
    <p:sldId id="286" r:id="rId30"/>
    <p:sldId id="306" r:id="rId31"/>
    <p:sldId id="287" r:id="rId32"/>
    <p:sldId id="288" r:id="rId33"/>
    <p:sldId id="289" r:id="rId34"/>
    <p:sldId id="290" r:id="rId35"/>
    <p:sldId id="307" r:id="rId36"/>
    <p:sldId id="291" r:id="rId37"/>
    <p:sldId id="292" r:id="rId38"/>
    <p:sldId id="293" r:id="rId39"/>
    <p:sldId id="294" r:id="rId40"/>
    <p:sldId id="295" r:id="rId41"/>
    <p:sldId id="296" r:id="rId42"/>
    <p:sldId id="297" r:id="rId43"/>
    <p:sldId id="298" r:id="rId44"/>
    <p:sldId id="316" r:id="rId45"/>
    <p:sldId id="310" r:id="rId46"/>
    <p:sldId id="311" r:id="rId47"/>
    <p:sldId id="312" r:id="rId48"/>
    <p:sldId id="313" r:id="rId49"/>
    <p:sldId id="314" r:id="rId50"/>
    <p:sldId id="317" r:id="rId51"/>
    <p:sldId id="318" r:id="rId52"/>
    <p:sldId id="319" r:id="rId53"/>
    <p:sldId id="320" r:id="rId54"/>
    <p:sldId id="308"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03" autoAdjust="0"/>
    <p:restoredTop sz="94660"/>
  </p:normalViewPr>
  <p:slideViewPr>
    <p:cSldViewPr snapToGrid="0">
      <p:cViewPr varScale="1">
        <p:scale>
          <a:sx n="59" d="100"/>
          <a:sy n="59" d="100"/>
        </p:scale>
        <p:origin x="12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A4D1F-BDFE-437E-B98F-CA4268A0D762}"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89D78-928E-4948-9163-0C7EACCCC201}" type="slidenum">
              <a:rPr lang="en-US" smtClean="0"/>
              <a:t>‹#›</a:t>
            </a:fld>
            <a:endParaRPr lang="en-US"/>
          </a:p>
        </p:txBody>
      </p:sp>
    </p:spTree>
    <p:extLst>
      <p:ext uri="{BB962C8B-B14F-4D97-AF65-F5344CB8AC3E}">
        <p14:creationId xmlns:p14="http://schemas.microsoft.com/office/powerpoint/2010/main" val="4240506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7889D78-928E-4948-9163-0C7EACCCC201}" type="slidenum">
              <a:rPr lang="en-US" smtClean="0"/>
              <a:t>1</a:t>
            </a:fld>
            <a:endParaRPr lang="en-US"/>
          </a:p>
        </p:txBody>
      </p:sp>
    </p:spTree>
    <p:extLst>
      <p:ext uri="{BB962C8B-B14F-4D97-AF65-F5344CB8AC3E}">
        <p14:creationId xmlns:p14="http://schemas.microsoft.com/office/powerpoint/2010/main" val="1680122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7889D78-928E-4948-9163-0C7EACCCC201}" type="slidenum">
              <a:rPr lang="en-US" smtClean="0"/>
              <a:t>4</a:t>
            </a:fld>
            <a:endParaRPr lang="en-US"/>
          </a:p>
        </p:txBody>
      </p:sp>
    </p:spTree>
    <p:extLst>
      <p:ext uri="{BB962C8B-B14F-4D97-AF65-F5344CB8AC3E}">
        <p14:creationId xmlns:p14="http://schemas.microsoft.com/office/powerpoint/2010/main" val="1754391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70AE5DF-DA9C-4411-A524-D3ACDAB40F96}"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4164389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89BC30-C1A4-40B8-B5ED-C243FE545381}"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4189940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F75D86-0C78-4B72-A024-EF8E60A25BCD}"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792377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235B146-E40A-4FE4-95A3-99068A8DDD8F}"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4050840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1E579EA-DBA0-4FF6-B0F2-819D219C5213}" type="datetime1">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404725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B27AA6C-858C-4826-81E6-1F23A972C85A}" type="datetime1">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1376115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EF2EE9-BFF7-44BC-BDEC-69CF22088961}" type="datetime1">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201417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889ECB5-8646-48F1-878A-E0ABF62D4EDA}"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1079019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FADB1D-6ED9-4A9D-A837-974D994D34B6}"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386789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EF4FDC-4221-4530-ACD1-FD3FD4F4B1DF}"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3547393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9422871-59CB-42A1-A036-60ECEC82C55B}"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26EEF7-B005-4926-9DF9-6CB0296B93C6}" type="slidenum">
              <a:rPr lang="en-US" smtClean="0"/>
              <a:t>‹#›</a:t>
            </a:fld>
            <a:endParaRPr lang="en-US"/>
          </a:p>
        </p:txBody>
      </p:sp>
    </p:spTree>
    <p:extLst>
      <p:ext uri="{BB962C8B-B14F-4D97-AF65-F5344CB8AC3E}">
        <p14:creationId xmlns:p14="http://schemas.microsoft.com/office/powerpoint/2010/main" val="3986738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A8A999-4AB1-4C44-B714-7D006B8211FB}" type="datetime1">
              <a:rPr lang="en-US" smtClean="0"/>
              <a:t>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26EEF7-B005-4926-9DF9-6CB0296B93C6}" type="slidenum">
              <a:rPr lang="en-US" smtClean="0"/>
              <a:t>‹#›</a:t>
            </a:fld>
            <a:endParaRPr lang="en-US"/>
          </a:p>
        </p:txBody>
      </p:sp>
    </p:spTree>
    <p:extLst>
      <p:ext uri="{BB962C8B-B14F-4D97-AF65-F5344CB8AC3E}">
        <p14:creationId xmlns:p14="http://schemas.microsoft.com/office/powerpoint/2010/main" val="2650577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google.co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ctrTitle"/>
          </p:nvPr>
        </p:nvSpPr>
        <p:spPr>
          <a:xfrm>
            <a:off x="943583" y="1752599"/>
            <a:ext cx="10525328" cy="1963367"/>
          </a:xfrm>
        </p:spPr>
        <p:txBody>
          <a:bodyPr>
            <a:normAutofit fontScale="90000"/>
          </a:bodyPr>
          <a:lstStyle/>
          <a:p>
            <a:pPr>
              <a:lnSpc>
                <a:spcPct val="150000"/>
              </a:lnSpc>
            </a:pPr>
            <a:r>
              <a:rPr lang="en-US" b="1" dirty="0">
                <a:latin typeface="Arial Black" panose="020B0A04020102020204" pitchFamily="34" charset="0"/>
              </a:rPr>
              <a:t>Timacade University</a:t>
            </a:r>
            <a:br>
              <a:rPr lang="en-US" b="1" dirty="0"/>
            </a:br>
            <a:r>
              <a:rPr lang="en-US" sz="3200" b="1" dirty="0">
                <a:latin typeface="Arial Black" panose="020B0A04020102020204" pitchFamily="34" charset="0"/>
              </a:rPr>
              <a:t>Department of ICT</a:t>
            </a:r>
            <a:endParaRPr lang="en-US" sz="3600" b="1" dirty="0">
              <a:latin typeface="Arial Black" panose="020B0A04020102020204" pitchFamily="34" charset="0"/>
            </a:endParaRPr>
          </a:p>
        </p:txBody>
      </p:sp>
      <p:sp>
        <p:nvSpPr>
          <p:cNvPr id="5123" name="Subtitle 2"/>
          <p:cNvSpPr>
            <a:spLocks noGrp="1"/>
          </p:cNvSpPr>
          <p:nvPr>
            <p:ph type="subTitle" idx="1"/>
          </p:nvPr>
        </p:nvSpPr>
        <p:spPr>
          <a:xfrm>
            <a:off x="2294106" y="4633912"/>
            <a:ext cx="7620000" cy="1905000"/>
          </a:xfrm>
        </p:spPr>
        <p:txBody>
          <a:bodyPr/>
          <a:lstStyle/>
          <a:p>
            <a:pPr>
              <a:buFont typeface="Wingdings" panose="05000000000000000000" pitchFamily="2" charset="2"/>
              <a:buNone/>
            </a:pPr>
            <a:r>
              <a:rPr lang="en-US" b="1" dirty="0"/>
              <a:t>Network Administration</a:t>
            </a:r>
          </a:p>
          <a:p>
            <a:pPr>
              <a:buFont typeface="Wingdings" panose="05000000000000000000" pitchFamily="2" charset="2"/>
              <a:buNone/>
            </a:pPr>
            <a:endParaRPr lang="en-US" b="1" dirty="0"/>
          </a:p>
          <a:p>
            <a:pPr>
              <a:buFont typeface="Wingdings" panose="05000000000000000000" pitchFamily="2" charset="2"/>
              <a:buNone/>
            </a:pPr>
            <a:r>
              <a:rPr lang="en-US" b="1" dirty="0">
                <a:solidFill>
                  <a:srgbClr val="00B050"/>
                </a:solidFill>
              </a:rPr>
              <a:t>Chapter One : Introduction</a:t>
            </a:r>
          </a:p>
        </p:txBody>
      </p:sp>
      <p:sp>
        <p:nvSpPr>
          <p:cNvPr id="2" name="Slide Number Placeholder 1"/>
          <p:cNvSpPr>
            <a:spLocks noGrp="1"/>
          </p:cNvSpPr>
          <p:nvPr>
            <p:ph type="sldNum" sz="quarter" idx="12"/>
          </p:nvPr>
        </p:nvSpPr>
        <p:spPr/>
        <p:txBody>
          <a:bodyPr/>
          <a:lstStyle/>
          <a:p>
            <a:fld id="{9426EEF7-B005-4926-9DF9-6CB0296B93C6}" type="slidenum">
              <a:rPr lang="en-US" smtClean="0"/>
              <a:t>1</a:t>
            </a:fld>
            <a:endParaRPr lang="en-US"/>
          </a:p>
        </p:txBody>
      </p:sp>
    </p:spTree>
    <p:extLst>
      <p:ext uri="{BB962C8B-B14F-4D97-AF65-F5344CB8AC3E}">
        <p14:creationId xmlns:p14="http://schemas.microsoft.com/office/powerpoint/2010/main" val="145008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2271" y="1658030"/>
            <a:ext cx="11745685" cy="4674962"/>
          </a:xfrm>
        </p:spPr>
        <p:txBody>
          <a:bodyPr>
            <a:normAutofit/>
          </a:bodyPr>
          <a:lstStyle/>
          <a:p>
            <a:pPr>
              <a:lnSpc>
                <a:spcPct val="200000"/>
              </a:lnSpc>
            </a:pPr>
            <a:r>
              <a:rPr lang="en-US" sz="2000" b="1" dirty="0">
                <a:latin typeface="Times New Roman" panose="02020603050405020304" pitchFamily="18" charset="0"/>
                <a:cs typeface="Times New Roman" panose="02020603050405020304" pitchFamily="18" charset="0"/>
              </a:rPr>
              <a:t>Network Administration</a:t>
            </a:r>
            <a:r>
              <a:rPr lang="en-US" sz="2000" dirty="0">
                <a:latin typeface="Times New Roman" panose="02020603050405020304" pitchFamily="18" charset="0"/>
                <a:cs typeface="Times New Roman" panose="02020603050405020304" pitchFamily="18" charset="0"/>
              </a:rPr>
              <a:t> is the process of </a:t>
            </a:r>
            <a:r>
              <a:rPr lang="en-US" sz="2000" b="1" dirty="0">
                <a:latin typeface="Times New Roman" panose="02020603050405020304" pitchFamily="18" charset="0"/>
                <a:cs typeface="Times New Roman" panose="02020603050405020304" pitchFamily="18" charset="0"/>
              </a:rPr>
              <a:t>designing, managing, and maintaining computer networks</a:t>
            </a:r>
            <a:r>
              <a:rPr lang="en-US" sz="2000" dirty="0">
                <a:latin typeface="Times New Roman" panose="02020603050405020304" pitchFamily="18" charset="0"/>
                <a:cs typeface="Times New Roman" panose="02020603050405020304" pitchFamily="18" charset="0"/>
              </a:rPr>
              <a:t> to ensure reliable, secure, and efficient communication between devices and systems. </a:t>
            </a:r>
          </a:p>
          <a:p>
            <a:pPr>
              <a:lnSpc>
                <a:spcPct val="200000"/>
              </a:lnSpc>
            </a:pPr>
            <a:r>
              <a:rPr lang="en-US" sz="2000" dirty="0">
                <a:latin typeface="Times New Roman" panose="02020603050405020304" pitchFamily="18" charset="0"/>
                <a:cs typeface="Times New Roman" panose="02020603050405020304" pitchFamily="18" charset="0"/>
              </a:rPr>
              <a:t>It includes technical and management tasks to make sure networks work properly and efficiently.</a:t>
            </a:r>
          </a:p>
          <a:p>
            <a:pPr>
              <a:lnSpc>
                <a:spcPct val="200000"/>
              </a:lnSpc>
            </a:pPr>
            <a:r>
              <a:rPr lang="en-US" sz="2000" b="1" dirty="0">
                <a:latin typeface="Times New Roman" panose="02020603050405020304" pitchFamily="18" charset="0"/>
                <a:cs typeface="Times New Roman" panose="02020603050405020304" pitchFamily="18" charset="0"/>
              </a:rPr>
              <a:t>A network administrator</a:t>
            </a:r>
            <a:r>
              <a:rPr lang="en-US" sz="2000" dirty="0">
                <a:latin typeface="Times New Roman" panose="02020603050405020304" pitchFamily="18" charset="0"/>
                <a:cs typeface="Times New Roman" panose="02020603050405020304" pitchFamily="18" charset="0"/>
              </a:rPr>
              <a:t> is responsible for </a:t>
            </a:r>
            <a:r>
              <a:rPr lang="en-US" sz="2000" b="1" dirty="0">
                <a:latin typeface="Times New Roman" panose="02020603050405020304" pitchFamily="18" charset="0"/>
                <a:cs typeface="Times New Roman" panose="02020603050405020304" pitchFamily="18" charset="0"/>
              </a:rPr>
              <a:t>making sure computers, servers, and other devices can communicate with each other</a:t>
            </a:r>
            <a:r>
              <a:rPr lang="en-US" sz="2000" dirty="0">
                <a:latin typeface="Times New Roman" panose="02020603050405020304" pitchFamily="18" charset="0"/>
                <a:cs typeface="Times New Roman" panose="02020603050405020304" pitchFamily="18" charset="0"/>
              </a:rPr>
              <a:t> and with external networks, such as the Internet, without interruptions or security issues.</a:t>
            </a:r>
          </a:p>
        </p:txBody>
      </p:sp>
      <p:sp>
        <p:nvSpPr>
          <p:cNvPr id="2" name="Slide Number Placeholder 1"/>
          <p:cNvSpPr>
            <a:spLocks noGrp="1"/>
          </p:cNvSpPr>
          <p:nvPr>
            <p:ph type="sldNum" sz="quarter" idx="12"/>
          </p:nvPr>
        </p:nvSpPr>
        <p:spPr/>
        <p:txBody>
          <a:bodyPr/>
          <a:lstStyle/>
          <a:p>
            <a:fld id="{9426EEF7-B005-4926-9DF9-6CB0296B93C6}" type="slidenum">
              <a:rPr lang="en-US" smtClean="0"/>
              <a:t>2</a:t>
            </a:fld>
            <a:endParaRPr lang="en-US"/>
          </a:p>
        </p:txBody>
      </p:sp>
      <p:sp>
        <p:nvSpPr>
          <p:cNvPr id="4" name="Title 1">
            <a:extLst>
              <a:ext uri="{FF2B5EF4-FFF2-40B4-BE49-F238E27FC236}">
                <a16:creationId xmlns:a16="http://schemas.microsoft.com/office/drawing/2014/main" id="{B10B60CA-277B-0070-460D-ABD096D51C9C}"/>
              </a:ext>
            </a:extLst>
          </p:cNvPr>
          <p:cNvSpPr>
            <a:spLocks noGrp="1"/>
          </p:cNvSpPr>
          <p:nvPr>
            <p:ph type="title"/>
          </p:nvPr>
        </p:nvSpPr>
        <p:spPr>
          <a:xfrm>
            <a:off x="838200" y="365125"/>
            <a:ext cx="10515600" cy="1325563"/>
          </a:xfrm>
        </p:spPr>
        <p:txBody>
          <a:bodyPr>
            <a:normAutofit/>
          </a:bodyPr>
          <a:lstStyle/>
          <a:p>
            <a:pPr algn="ctr"/>
            <a:r>
              <a:rPr lang="en-US" sz="3200" b="1" dirty="0">
                <a:latin typeface="Arial Black" panose="020B0A04020102020204" pitchFamily="34" charset="0"/>
              </a:rPr>
              <a:t>What Is a Network Administration?</a:t>
            </a:r>
          </a:p>
        </p:txBody>
      </p:sp>
    </p:spTree>
    <p:extLst>
      <p:ext uri="{BB962C8B-B14F-4D97-AF65-F5344CB8AC3E}">
        <p14:creationId xmlns:p14="http://schemas.microsoft.com/office/powerpoint/2010/main" val="945653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3028" y="1152298"/>
            <a:ext cx="11625943" cy="4553403"/>
          </a:xfrm>
        </p:spPr>
        <p:txBody>
          <a:bodyPr/>
          <a:lstStyle/>
          <a:p>
            <a:pPr>
              <a:lnSpc>
                <a:spcPct val="150000"/>
              </a:lnSpc>
            </a:pPr>
            <a:r>
              <a:rPr lang="en-US" sz="2400" dirty="0"/>
              <a:t>Network administrators make sure the computer networks of an organization are secure and working well.</a:t>
            </a:r>
          </a:p>
          <a:p>
            <a:pPr>
              <a:lnSpc>
                <a:spcPct val="150000"/>
              </a:lnSpc>
            </a:pPr>
            <a:r>
              <a:rPr lang="en-US" sz="2400" dirty="0"/>
              <a:t>A network administrator is an information technology (IT) professional. </a:t>
            </a:r>
          </a:p>
          <a:p>
            <a:pPr>
              <a:lnSpc>
                <a:spcPct val="150000"/>
              </a:lnSpc>
            </a:pPr>
            <a:r>
              <a:rPr lang="en-US" sz="2400" dirty="0"/>
              <a:t>Their job is to </a:t>
            </a:r>
            <a:r>
              <a:rPr lang="en-US" sz="2400" b="1" dirty="0"/>
              <a:t>secure</a:t>
            </a:r>
            <a:r>
              <a:rPr lang="en-US" sz="2400" dirty="0"/>
              <a:t>, </a:t>
            </a:r>
            <a:r>
              <a:rPr lang="en-US" sz="2400" b="1" dirty="0"/>
              <a:t>maintain</a:t>
            </a:r>
            <a:r>
              <a:rPr lang="en-US" sz="2400" dirty="0"/>
              <a:t>, and </a:t>
            </a:r>
            <a:r>
              <a:rPr lang="en-US" sz="2400" b="1" dirty="0"/>
              <a:t>troubleshoot</a:t>
            </a:r>
            <a:r>
              <a:rPr lang="en-US" sz="2400" dirty="0"/>
              <a:t> computer networks, which are groups of computers sharing information. </a:t>
            </a:r>
          </a:p>
          <a:p>
            <a:pPr>
              <a:lnSpc>
                <a:spcPct val="150000"/>
              </a:lnSpc>
            </a:pPr>
            <a:r>
              <a:rPr lang="en-US" sz="2400" dirty="0"/>
              <a:t>Organizations employ network administrators to ensure their networks operate efficiently and meet business requirements.</a:t>
            </a:r>
          </a:p>
        </p:txBody>
      </p:sp>
      <p:sp>
        <p:nvSpPr>
          <p:cNvPr id="4" name="Slide Number Placeholder 3"/>
          <p:cNvSpPr>
            <a:spLocks noGrp="1"/>
          </p:cNvSpPr>
          <p:nvPr>
            <p:ph type="sldNum" sz="quarter" idx="10"/>
          </p:nvPr>
        </p:nvSpPr>
        <p:spPr/>
        <p:txBody>
          <a:bodyPr/>
          <a:lstStyle/>
          <a:p>
            <a:pPr>
              <a:defRPr/>
            </a:pPr>
            <a:fld id="{8CF67E21-E79C-42FE-B3BC-BDD0A5D170D7}" type="slidenum">
              <a:rPr lang="en-US" smtClean="0"/>
              <a:pPr>
                <a:defRPr/>
              </a:pPr>
              <a:t>3</a:t>
            </a:fld>
            <a:endParaRPr lang="en-US"/>
          </a:p>
        </p:txBody>
      </p:sp>
    </p:spTree>
    <p:extLst>
      <p:ext uri="{BB962C8B-B14F-4D97-AF65-F5344CB8AC3E}">
        <p14:creationId xmlns:p14="http://schemas.microsoft.com/office/powerpoint/2010/main" val="1676029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8600"/>
            <a:ext cx="10640438" cy="838200"/>
          </a:xfrm>
        </p:spPr>
        <p:txBody>
          <a:bodyPr>
            <a:normAutofit/>
          </a:bodyPr>
          <a:lstStyle/>
          <a:p>
            <a:pPr algn="ctr"/>
            <a:r>
              <a:rPr lang="en-US" sz="3200" b="1" dirty="0">
                <a:latin typeface="Arial Black" panose="020B0A04020102020204" pitchFamily="34" charset="0"/>
              </a:rPr>
              <a:t>What does a network administrator do?</a:t>
            </a:r>
            <a:endParaRPr lang="en-US" sz="3200" dirty="0">
              <a:latin typeface="Arial Black" panose="020B0A04020102020204" pitchFamily="34" charset="0"/>
            </a:endParaRPr>
          </a:p>
        </p:txBody>
      </p:sp>
      <p:sp>
        <p:nvSpPr>
          <p:cNvPr id="3" name="Content Placeholder 2"/>
          <p:cNvSpPr>
            <a:spLocks noGrp="1"/>
          </p:cNvSpPr>
          <p:nvPr>
            <p:ph idx="1"/>
          </p:nvPr>
        </p:nvSpPr>
        <p:spPr>
          <a:xfrm>
            <a:off x="398834" y="1371599"/>
            <a:ext cx="11721830" cy="5349875"/>
          </a:xfrm>
        </p:spPr>
        <p:txBody>
          <a:bodyPr>
            <a:normAutofit/>
          </a:bodyPr>
          <a:lstStyle/>
          <a:p>
            <a:pPr marL="0" indent="0" algn="ctr">
              <a:buNone/>
            </a:pPr>
            <a:r>
              <a:rPr lang="en-US" sz="2000" b="1" dirty="0"/>
              <a:t>Responsibilities you may find in a network administrator's job description include:</a:t>
            </a:r>
          </a:p>
          <a:p>
            <a:pPr>
              <a:lnSpc>
                <a:spcPct val="150000"/>
              </a:lnSpc>
            </a:pPr>
            <a:r>
              <a:rPr lang="en-US" sz="2400" dirty="0"/>
              <a:t>Install, configure, and maintain network hardware and software such as routers, firewalls, and switches.</a:t>
            </a:r>
          </a:p>
          <a:p>
            <a:pPr>
              <a:lnSpc>
                <a:spcPct val="150000"/>
              </a:lnSpc>
            </a:pPr>
            <a:r>
              <a:rPr lang="en-US" sz="2400" dirty="0"/>
              <a:t>Protect networks from unauthorized users through physical and technical means Set up and maintain virtual private networks (</a:t>
            </a:r>
            <a:r>
              <a:rPr lang="en-US" sz="2400" b="1" dirty="0"/>
              <a:t>VPN</a:t>
            </a:r>
            <a:r>
              <a:rPr lang="en-US" sz="2400" dirty="0"/>
              <a:t>).</a:t>
            </a:r>
          </a:p>
          <a:p>
            <a:pPr>
              <a:lnSpc>
                <a:spcPct val="150000"/>
              </a:lnSpc>
            </a:pPr>
            <a:r>
              <a:rPr lang="en-US" sz="2400" dirty="0"/>
              <a:t>Resolve network connectivity issues for other employees.</a:t>
            </a:r>
          </a:p>
          <a:p>
            <a:pPr>
              <a:lnSpc>
                <a:spcPct val="150000"/>
              </a:lnSpc>
            </a:pPr>
            <a:r>
              <a:rPr lang="en-US" sz="2400" dirty="0"/>
              <a:t>Maintain and troubleshoot storage networks.</a:t>
            </a:r>
          </a:p>
        </p:txBody>
      </p:sp>
      <p:sp>
        <p:nvSpPr>
          <p:cNvPr id="4" name="Slide Number Placeholder 3"/>
          <p:cNvSpPr>
            <a:spLocks noGrp="1"/>
          </p:cNvSpPr>
          <p:nvPr>
            <p:ph type="sldNum" sz="quarter" idx="10"/>
          </p:nvPr>
        </p:nvSpPr>
        <p:spPr/>
        <p:txBody>
          <a:bodyPr/>
          <a:lstStyle/>
          <a:p>
            <a:pPr>
              <a:defRPr/>
            </a:pPr>
            <a:fld id="{8CF67E21-E79C-42FE-B3BC-BDD0A5D170D7}" type="slidenum">
              <a:rPr lang="en-US" smtClean="0"/>
              <a:pPr>
                <a:defRPr/>
              </a:pPr>
              <a:t>4</a:t>
            </a:fld>
            <a:endParaRPr lang="en-US"/>
          </a:p>
        </p:txBody>
      </p:sp>
    </p:spTree>
    <p:extLst>
      <p:ext uri="{BB962C8B-B14F-4D97-AF65-F5344CB8AC3E}">
        <p14:creationId xmlns:p14="http://schemas.microsoft.com/office/powerpoint/2010/main" val="834722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114425" y="530497"/>
            <a:ext cx="8021638" cy="569913"/>
          </a:xfrm>
        </p:spPr>
        <p:txBody>
          <a:bodyPr>
            <a:noAutofit/>
          </a:bodyPr>
          <a:lstStyle/>
          <a:p>
            <a:pPr algn="ctr"/>
            <a:r>
              <a:rPr lang="en-US" sz="3200" b="1" dirty="0">
                <a:latin typeface="Arial Black" panose="020B0A04020102020204" pitchFamily="34" charset="0"/>
              </a:rPr>
              <a:t>Who is Network administrator?</a:t>
            </a:r>
          </a:p>
        </p:txBody>
      </p:sp>
      <p:sp>
        <p:nvSpPr>
          <p:cNvPr id="9219" name="Content Placeholder 2"/>
          <p:cNvSpPr>
            <a:spLocks noGrp="1"/>
          </p:cNvSpPr>
          <p:nvPr>
            <p:ph idx="1"/>
          </p:nvPr>
        </p:nvSpPr>
        <p:spPr>
          <a:xfrm>
            <a:off x="1402404" y="1473199"/>
            <a:ext cx="8574088" cy="5065713"/>
          </a:xfrm>
        </p:spPr>
        <p:txBody>
          <a:bodyPr/>
          <a:lstStyle/>
          <a:p>
            <a:pPr>
              <a:buFont typeface="Wingdings" panose="05000000000000000000" pitchFamily="2" charset="2"/>
              <a:buNone/>
            </a:pPr>
            <a:r>
              <a:rPr lang="en-US" dirty="0"/>
              <a:t>An individual graduated in :</a:t>
            </a:r>
          </a:p>
          <a:p>
            <a:pPr lvl="1">
              <a:lnSpc>
                <a:spcPct val="200000"/>
              </a:lnSpc>
              <a:buFont typeface="Wingdings" panose="05000000000000000000" pitchFamily="2" charset="2"/>
              <a:buBlip>
                <a:blip r:embed="rId2"/>
              </a:buBlip>
            </a:pPr>
            <a:r>
              <a:rPr lang="en-US" dirty="0"/>
              <a:t>Computer Engineering</a:t>
            </a:r>
          </a:p>
          <a:p>
            <a:pPr lvl="1">
              <a:lnSpc>
                <a:spcPct val="200000"/>
              </a:lnSpc>
              <a:buFont typeface="Wingdings" panose="05000000000000000000" pitchFamily="2" charset="2"/>
              <a:buBlip>
                <a:blip r:embed="rId2"/>
              </a:buBlip>
            </a:pPr>
            <a:r>
              <a:rPr lang="en-US" dirty="0"/>
              <a:t>Computer science</a:t>
            </a:r>
          </a:p>
          <a:p>
            <a:pPr lvl="1">
              <a:lnSpc>
                <a:spcPct val="200000"/>
              </a:lnSpc>
              <a:buFont typeface="Wingdings" panose="05000000000000000000" pitchFamily="2" charset="2"/>
              <a:buBlip>
                <a:blip r:embed="rId2"/>
              </a:buBlip>
            </a:pPr>
            <a:r>
              <a:rPr lang="en-US" dirty="0"/>
              <a:t>Information Technology</a:t>
            </a:r>
          </a:p>
        </p:txBody>
      </p:sp>
      <p:sp>
        <p:nvSpPr>
          <p:cNvPr id="9220"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C37AF99C-A7BA-42FD-8495-16EE466AD399}" type="slidenum">
              <a:rPr lang="en-US" sz="1400">
                <a:latin typeface="Arial" panose="020B0604020202020204" pitchFamily="34" charset="0"/>
              </a:rPr>
              <a:pPr>
                <a:spcBef>
                  <a:spcPct val="0"/>
                </a:spcBef>
                <a:buClrTx/>
                <a:buSzTx/>
                <a:buFontTx/>
                <a:buNone/>
              </a:pPr>
              <a:t>5</a:t>
            </a:fld>
            <a:endParaRPr lang="en-US" sz="1400">
              <a:latin typeface="Arial" panose="020B0604020202020204" pitchFamily="34" charset="0"/>
            </a:endParaRPr>
          </a:p>
        </p:txBody>
      </p:sp>
    </p:spTree>
    <p:extLst>
      <p:ext uri="{BB962C8B-B14F-4D97-AF65-F5344CB8AC3E}">
        <p14:creationId xmlns:p14="http://schemas.microsoft.com/office/powerpoint/2010/main" val="691069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838200" y="141514"/>
            <a:ext cx="10805809" cy="632298"/>
          </a:xfrm>
        </p:spPr>
        <p:txBody>
          <a:bodyPr/>
          <a:lstStyle/>
          <a:p>
            <a:pPr algn="ctr"/>
            <a:r>
              <a:rPr lang="en-US" sz="3200" b="1" dirty="0">
                <a:latin typeface="Arial Black" panose="020B0A04020102020204" pitchFamily="34" charset="0"/>
              </a:rPr>
              <a:t>Administrator Responsibilities </a:t>
            </a:r>
          </a:p>
        </p:txBody>
      </p:sp>
      <p:sp>
        <p:nvSpPr>
          <p:cNvPr id="10243" name="Content Placeholder 2"/>
          <p:cNvSpPr>
            <a:spLocks noGrp="1"/>
          </p:cNvSpPr>
          <p:nvPr>
            <p:ph idx="1"/>
          </p:nvPr>
        </p:nvSpPr>
        <p:spPr>
          <a:xfrm>
            <a:off x="304800" y="968268"/>
            <a:ext cx="11339209" cy="5193625"/>
          </a:xfrm>
        </p:spPr>
        <p:txBody>
          <a:bodyPr>
            <a:normAutofit/>
          </a:bodyPr>
          <a:lstStyle/>
          <a:p>
            <a:pPr marL="0" indent="0" algn="ctr">
              <a:lnSpc>
                <a:spcPct val="150000"/>
              </a:lnSpc>
              <a:buNone/>
            </a:pPr>
            <a:r>
              <a:rPr lang="en-US" sz="2600" b="1" dirty="0">
                <a:latin typeface="Times New Roman" panose="02020603050405020304" pitchFamily="18" charset="0"/>
                <a:cs typeface="Times New Roman" panose="02020603050405020304" pitchFamily="18" charset="0"/>
              </a:rPr>
              <a:t>Network Setup &amp; Maintenance</a:t>
            </a:r>
          </a:p>
          <a:p>
            <a:pPr>
              <a:lnSpc>
                <a:spcPct val="150000"/>
              </a:lnSpc>
            </a:pPr>
            <a:r>
              <a:rPr lang="en-US" sz="2400" dirty="0">
                <a:latin typeface="Times New Roman" panose="02020603050405020304" pitchFamily="18" charset="0"/>
                <a:cs typeface="Times New Roman" panose="02020603050405020304" pitchFamily="18" charset="0"/>
              </a:rPr>
              <a:t>Install, configure, and maintain network hardware </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routers, switches, firewalls, access points</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Set up and manage Local Area Networks (</a:t>
            </a:r>
            <a:r>
              <a:rPr lang="en-US" sz="1800" b="1" dirty="0">
                <a:solidFill>
                  <a:srgbClr val="C00000"/>
                </a:solidFill>
                <a:latin typeface="Times New Roman" panose="02020603050405020304" pitchFamily="18" charset="0"/>
                <a:cs typeface="Times New Roman" panose="02020603050405020304" pitchFamily="18" charset="0"/>
              </a:rPr>
              <a:t>LANs</a:t>
            </a:r>
            <a:r>
              <a:rPr lang="en-US" sz="2400" dirty="0">
                <a:latin typeface="Times New Roman" panose="02020603050405020304" pitchFamily="18" charset="0"/>
                <a:cs typeface="Times New Roman" panose="02020603050405020304" pitchFamily="18" charset="0"/>
              </a:rPr>
              <a:t>), Wide Area Networks (</a:t>
            </a:r>
            <a:r>
              <a:rPr lang="en-US" sz="2000" b="1" dirty="0">
                <a:solidFill>
                  <a:srgbClr val="C00000"/>
                </a:solidFill>
                <a:latin typeface="Times New Roman" panose="02020603050405020304" pitchFamily="18" charset="0"/>
                <a:cs typeface="Times New Roman" panose="02020603050405020304" pitchFamily="18" charset="0"/>
              </a:rPr>
              <a:t>WANs</a:t>
            </a:r>
            <a:r>
              <a:rPr lang="en-US" sz="2400" dirty="0">
                <a:latin typeface="Times New Roman" panose="02020603050405020304" pitchFamily="18" charset="0"/>
                <a:cs typeface="Times New Roman" panose="02020603050405020304" pitchFamily="18" charset="0"/>
              </a:rPr>
              <a:t>), and Virtual Private Networks (</a:t>
            </a:r>
            <a:r>
              <a:rPr lang="en-US" sz="2000" b="1" dirty="0">
                <a:solidFill>
                  <a:srgbClr val="C00000"/>
                </a:solidFill>
                <a:latin typeface="Times New Roman" panose="02020603050405020304" pitchFamily="18" charset="0"/>
                <a:cs typeface="Times New Roman" panose="02020603050405020304" pitchFamily="18" charset="0"/>
              </a:rPr>
              <a:t>VPNs</a:t>
            </a:r>
            <a:r>
              <a:rPr lang="en-US" sz="2400" dirty="0">
                <a:latin typeface="Times New Roman" panose="02020603050405020304" pitchFamily="18" charset="0"/>
                <a:cs typeface="Times New Roman" panose="02020603050405020304" pitchFamily="18" charset="0"/>
              </a:rPr>
              <a:t>).</a:t>
            </a:r>
          </a:p>
          <a:p>
            <a:pPr marL="0" indent="0" algn="ctr">
              <a:lnSpc>
                <a:spcPct val="150000"/>
              </a:lnSpc>
              <a:buNone/>
            </a:pPr>
            <a:r>
              <a:rPr lang="en-US" sz="2600" b="1" dirty="0">
                <a:latin typeface="Times New Roman" panose="02020603050405020304" pitchFamily="18" charset="0"/>
                <a:cs typeface="Times New Roman" panose="02020603050405020304" pitchFamily="18" charset="0"/>
              </a:rPr>
              <a:t>Network Security Management</a:t>
            </a:r>
          </a:p>
          <a:p>
            <a:pPr>
              <a:lnSpc>
                <a:spcPct val="150000"/>
              </a:lnSpc>
            </a:pPr>
            <a:r>
              <a:rPr lang="en-US" sz="2400" dirty="0">
                <a:latin typeface="Times New Roman" panose="02020603050405020304" pitchFamily="18" charset="0"/>
                <a:cs typeface="Times New Roman" panose="02020603050405020304" pitchFamily="18" charset="0"/>
              </a:rPr>
              <a:t>Implement </a:t>
            </a:r>
            <a:r>
              <a:rPr lang="en-US" sz="2400" b="1" dirty="0">
                <a:latin typeface="Times New Roman" panose="02020603050405020304" pitchFamily="18" charset="0"/>
                <a:cs typeface="Times New Roman" panose="02020603050405020304" pitchFamily="18" charset="0"/>
              </a:rPr>
              <a:t>firewalls and encryption</a:t>
            </a:r>
            <a:r>
              <a:rPr lang="en-US" sz="2400" dirty="0">
                <a:latin typeface="Times New Roman" panose="02020603050405020304" pitchFamily="18" charset="0"/>
                <a:cs typeface="Times New Roman" panose="02020603050405020304" pitchFamily="18" charset="0"/>
              </a:rPr>
              <a:t> to secure the network.</a:t>
            </a:r>
          </a:p>
          <a:p>
            <a:pPr>
              <a:lnSpc>
                <a:spcPct val="150000"/>
              </a:lnSpc>
            </a:pPr>
            <a:r>
              <a:rPr lang="en-US" sz="2400" dirty="0">
                <a:latin typeface="Times New Roman" panose="02020603050405020304" pitchFamily="18" charset="0"/>
                <a:cs typeface="Times New Roman" panose="02020603050405020304" pitchFamily="18" charset="0"/>
              </a:rPr>
              <a:t>Monitor network traffic for unusual activity and potential cyber threats.</a:t>
            </a:r>
          </a:p>
        </p:txBody>
      </p:sp>
      <p:sp>
        <p:nvSpPr>
          <p:cNvPr id="10244" name="Slide Number Placeholder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28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chemeClr val="hlink"/>
              </a:buClr>
              <a:buSzPct val="55000"/>
              <a:buFont typeface="Wingdings" panose="05000000000000000000" pitchFamily="2" charset="2"/>
              <a:buChar char="n"/>
              <a:defRPr sz="24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chemeClr val="folHlink"/>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SzTx/>
              <a:buFontTx/>
              <a:buNone/>
            </a:pPr>
            <a:fld id="{238017D5-C9F4-4A10-BA28-BF3D429F1903}" type="slidenum">
              <a:rPr lang="en-US" sz="1400">
                <a:latin typeface="Arial" panose="020B0604020202020204" pitchFamily="34" charset="0"/>
              </a:rPr>
              <a:pPr>
                <a:spcBef>
                  <a:spcPct val="0"/>
                </a:spcBef>
                <a:buClrTx/>
                <a:buSzTx/>
                <a:buFontTx/>
                <a:buNone/>
              </a:pPr>
              <a:t>6</a:t>
            </a:fld>
            <a:endParaRPr lang="en-US" sz="1400">
              <a:latin typeface="Arial" panose="020B0604020202020204" pitchFamily="34" charset="0"/>
            </a:endParaRPr>
          </a:p>
        </p:txBody>
      </p:sp>
    </p:spTree>
    <p:extLst>
      <p:ext uri="{BB962C8B-B14F-4D97-AF65-F5344CB8AC3E}">
        <p14:creationId xmlns:p14="http://schemas.microsoft.com/office/powerpoint/2010/main" val="1113389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5687" y="369650"/>
            <a:ext cx="11503420" cy="6089515"/>
          </a:xfrm>
        </p:spPr>
        <p:txBody>
          <a:bodyPr>
            <a:normAutofit/>
          </a:bodyPr>
          <a:lstStyle/>
          <a:p>
            <a:pPr marL="0" indent="0" algn="ctr">
              <a:lnSpc>
                <a:spcPct val="150000"/>
              </a:lnSpc>
              <a:buNone/>
            </a:pPr>
            <a:r>
              <a:rPr lang="en-US" b="1" dirty="0">
                <a:latin typeface="Times New Roman" panose="02020603050405020304" pitchFamily="18" charset="0"/>
                <a:cs typeface="Times New Roman" panose="02020603050405020304" pitchFamily="18" charset="0"/>
              </a:rPr>
              <a:t>Hardware &amp; Software Upgrades</a:t>
            </a:r>
            <a:r>
              <a:rPr lang="en-US" sz="20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Upgrade network hardware when necessary to maintain performance and security.</a:t>
            </a:r>
          </a:p>
          <a:p>
            <a:pPr>
              <a:lnSpc>
                <a:spcPct val="150000"/>
              </a:lnSpc>
            </a:pPr>
            <a:r>
              <a:rPr lang="en-US" sz="2400" dirty="0">
                <a:latin typeface="Times New Roman" panose="02020603050405020304" pitchFamily="18" charset="0"/>
                <a:cs typeface="Times New Roman" panose="02020603050405020304" pitchFamily="18" charset="0"/>
              </a:rPr>
              <a:t>Install and update network-related software and operating systems.</a:t>
            </a:r>
          </a:p>
          <a:p>
            <a:pPr marL="0" indent="0" algn="ctr">
              <a:lnSpc>
                <a:spcPct val="150000"/>
              </a:lnSpc>
              <a:buNone/>
            </a:pPr>
            <a:endParaRPr lang="en-US" b="1" dirty="0">
              <a:latin typeface="Times New Roman" panose="02020603050405020304" pitchFamily="18" charset="0"/>
              <a:cs typeface="Times New Roman" panose="02020603050405020304" pitchFamily="18" charset="0"/>
            </a:endParaRPr>
          </a:p>
          <a:p>
            <a:pPr marL="0" indent="0" algn="ctr">
              <a:lnSpc>
                <a:spcPct val="150000"/>
              </a:lnSpc>
              <a:buNone/>
            </a:pPr>
            <a:r>
              <a:rPr lang="en-US" b="1" dirty="0">
                <a:latin typeface="Times New Roman" panose="02020603050405020304" pitchFamily="18" charset="0"/>
                <a:cs typeface="Times New Roman" panose="02020603050405020304" pitchFamily="18" charset="0"/>
              </a:rPr>
              <a:t>Troubleshooting &amp; Support</a:t>
            </a:r>
            <a:r>
              <a:rPr lang="en-US" sz="2000" b="1"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Diagnose and resolve </a:t>
            </a:r>
            <a:r>
              <a:rPr lang="en-US" sz="2400" b="1" dirty="0">
                <a:latin typeface="Times New Roman" panose="02020603050405020304" pitchFamily="18" charset="0"/>
                <a:cs typeface="Times New Roman" panose="02020603050405020304" pitchFamily="18" charset="0"/>
              </a:rPr>
              <a:t>network connectivity issues</a:t>
            </a:r>
            <a:r>
              <a:rPr lang="en-US" sz="2400" dirty="0">
                <a:latin typeface="Times New Roman" panose="02020603050405020304" pitchFamily="18" charset="0"/>
                <a:cs typeface="Times New Roman" panose="02020603050405020304" pitchFamily="18" charset="0"/>
              </a:rPr>
              <a:t>.</a:t>
            </a:r>
          </a:p>
          <a:p>
            <a:pPr>
              <a:lnSpc>
                <a:spcPct val="150000"/>
              </a:lnSpc>
            </a:pPr>
            <a:r>
              <a:rPr lang="en-US" sz="2400" dirty="0">
                <a:latin typeface="Times New Roman" panose="02020603050405020304" pitchFamily="18" charset="0"/>
                <a:cs typeface="Times New Roman" panose="02020603050405020304" pitchFamily="18" charset="0"/>
              </a:rPr>
              <a:t>Provide technical support to employees for network-related problems.</a:t>
            </a:r>
          </a:p>
          <a:p>
            <a:pPr>
              <a:lnSpc>
                <a:spcPct val="150000"/>
              </a:lnSpc>
            </a:pPr>
            <a:r>
              <a:rPr lang="en-US" sz="2400" dirty="0">
                <a:latin typeface="Times New Roman" panose="02020603050405020304" pitchFamily="18" charset="0"/>
                <a:cs typeface="Times New Roman" panose="02020603050405020304" pitchFamily="18" charset="0"/>
              </a:rPr>
              <a:t>Work with </a:t>
            </a:r>
            <a:r>
              <a:rPr lang="en-US" sz="2400" b="1" dirty="0">
                <a:latin typeface="Times New Roman" panose="02020603050405020304" pitchFamily="18" charset="0"/>
                <a:cs typeface="Times New Roman" panose="02020603050405020304" pitchFamily="18" charset="0"/>
              </a:rPr>
              <a:t>help desk teams</a:t>
            </a:r>
            <a:r>
              <a:rPr lang="en-US" sz="2400" dirty="0">
                <a:latin typeface="Times New Roman" panose="02020603050405020304" pitchFamily="18" charset="0"/>
                <a:cs typeface="Times New Roman" panose="02020603050405020304" pitchFamily="18" charset="0"/>
              </a:rPr>
              <a:t> to ensure smooth IT operations.</a:t>
            </a:r>
          </a:p>
        </p:txBody>
      </p:sp>
      <p:sp>
        <p:nvSpPr>
          <p:cNvPr id="4" name="Slide Number Placeholder 3"/>
          <p:cNvSpPr>
            <a:spLocks noGrp="1"/>
          </p:cNvSpPr>
          <p:nvPr>
            <p:ph type="sldNum" sz="quarter" idx="12"/>
          </p:nvPr>
        </p:nvSpPr>
        <p:spPr/>
        <p:txBody>
          <a:bodyPr/>
          <a:lstStyle/>
          <a:p>
            <a:fld id="{9426EEF7-B005-4926-9DF9-6CB0296B93C6}" type="slidenum">
              <a:rPr lang="en-US" smtClean="0"/>
              <a:t>7</a:t>
            </a:fld>
            <a:endParaRPr lang="en-US"/>
          </a:p>
        </p:txBody>
      </p:sp>
    </p:spTree>
    <p:extLst>
      <p:ext uri="{BB962C8B-B14F-4D97-AF65-F5344CB8AC3E}">
        <p14:creationId xmlns:p14="http://schemas.microsoft.com/office/powerpoint/2010/main" val="409529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089" y="500975"/>
            <a:ext cx="10515600" cy="753556"/>
          </a:xfrm>
        </p:spPr>
        <p:txBody>
          <a:bodyPr>
            <a:normAutofit/>
          </a:bodyPr>
          <a:lstStyle/>
          <a:p>
            <a:pPr algn="ctr"/>
            <a:r>
              <a:rPr lang="en-US" sz="3200" b="1" dirty="0">
                <a:latin typeface="Arial Black" panose="020B0A04020102020204" pitchFamily="34" charset="0"/>
              </a:rPr>
              <a:t>VPN? (Virtual Private Network)</a:t>
            </a:r>
          </a:p>
        </p:txBody>
      </p:sp>
      <p:sp>
        <p:nvSpPr>
          <p:cNvPr id="3" name="Content Placeholder 2"/>
          <p:cNvSpPr>
            <a:spLocks noGrp="1"/>
          </p:cNvSpPr>
          <p:nvPr>
            <p:ph idx="1"/>
          </p:nvPr>
        </p:nvSpPr>
        <p:spPr>
          <a:xfrm>
            <a:off x="342089" y="1435482"/>
            <a:ext cx="11361906" cy="4739917"/>
          </a:xfrm>
        </p:spPr>
        <p:txBody>
          <a:bodyPr>
            <a:normAutofit/>
          </a:bodyPr>
          <a:lstStyle/>
          <a:p>
            <a:pPr>
              <a:lnSpc>
                <a:spcPct val="2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technology known as a virtual private network, or </a:t>
            </a:r>
            <a:r>
              <a:rPr lang="en-US" sz="2400" b="1" dirty="0">
                <a:latin typeface="Times New Roman" panose="02020603050405020304" pitchFamily="18" charset="0"/>
                <a:cs typeface="Times New Roman" panose="02020603050405020304" pitchFamily="18" charset="0"/>
              </a:rPr>
              <a:t>VPN</a:t>
            </a:r>
            <a:r>
              <a:rPr lang="en-US" sz="2400" dirty="0">
                <a:latin typeface="Times New Roman" panose="02020603050405020304" pitchFamily="18" charset="0"/>
                <a:cs typeface="Times New Roman" panose="02020603050405020304" pitchFamily="18" charset="0"/>
              </a:rPr>
              <a:t>, establishes a safe, encrypted connection between your device and the internet. </a:t>
            </a:r>
          </a:p>
          <a:p>
            <a:pPr>
              <a:lnSpc>
                <a:spcPct val="2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encrypting your internet traffic and hiding your IP address, it makes it more difficult for hackers and governments to monitor your online activity.</a:t>
            </a:r>
          </a:p>
          <a:p>
            <a:pPr>
              <a:lnSpc>
                <a:spcPct val="250000"/>
              </a:lnSpc>
            </a:pPr>
            <a:endParaRPr lang="en-US" sz="2400" dirty="0">
              <a:latin typeface="Times New Roman" panose="02020603050405020304" pitchFamily="18" charset="0"/>
              <a:cs typeface="Times New Roman" panose="02020603050405020304" pitchFamily="18" charset="0"/>
            </a:endParaRPr>
          </a:p>
          <a:p>
            <a:pPr>
              <a:lnSpc>
                <a:spcPct val="250000"/>
              </a:lnSpc>
            </a:pPr>
            <a:endParaRPr lang="en-US" sz="2400" dirty="0">
              <a:latin typeface="Times New Roman" panose="02020603050405020304" pitchFamily="18" charset="0"/>
              <a:cs typeface="Times New Roman" panose="02020603050405020304" pitchFamily="18" charset="0"/>
            </a:endParaRPr>
          </a:p>
          <a:p>
            <a:pPr>
              <a:lnSpc>
                <a:spcPct val="250000"/>
              </a:lnSpc>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8</a:t>
            </a:fld>
            <a:endParaRPr lang="en-US"/>
          </a:p>
        </p:txBody>
      </p:sp>
    </p:spTree>
    <p:extLst>
      <p:ext uri="{BB962C8B-B14F-4D97-AF65-F5344CB8AC3E}">
        <p14:creationId xmlns:p14="http://schemas.microsoft.com/office/powerpoint/2010/main" val="316945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007"/>
          </a:xfrm>
        </p:spPr>
        <p:txBody>
          <a:bodyPr>
            <a:normAutofit/>
          </a:bodyPr>
          <a:lstStyle/>
          <a:p>
            <a:pPr algn="ctr"/>
            <a:r>
              <a:rPr lang="en-US" sz="3200" b="1" dirty="0">
                <a:latin typeface="Arial Black" panose="020B0A04020102020204" pitchFamily="34" charset="0"/>
              </a:rPr>
              <a:t>How Does a VPN Work?</a:t>
            </a:r>
          </a:p>
        </p:txBody>
      </p:sp>
      <p:sp>
        <p:nvSpPr>
          <p:cNvPr id="3" name="Content Placeholder 2"/>
          <p:cNvSpPr>
            <a:spLocks noGrp="1"/>
          </p:cNvSpPr>
          <p:nvPr>
            <p:ph idx="1"/>
          </p:nvPr>
        </p:nvSpPr>
        <p:spPr>
          <a:xfrm>
            <a:off x="680935" y="1235413"/>
            <a:ext cx="11186809" cy="5204298"/>
          </a:xfrm>
        </p:spPr>
        <p:txBody>
          <a:bodyPr>
            <a:normAutofit/>
          </a:bodyPr>
          <a:lstStyle/>
          <a:p>
            <a:pPr>
              <a:lnSpc>
                <a:spcPct val="2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You connect to a VPN server:- </a:t>
            </a:r>
            <a:r>
              <a:rPr lang="en-US" sz="2400" dirty="0">
                <a:latin typeface="Times New Roman" panose="02020603050405020304" pitchFamily="18" charset="0"/>
                <a:cs typeface="Times New Roman" panose="02020603050405020304" pitchFamily="18" charset="0"/>
              </a:rPr>
              <a:t>Your data first passes via a secure </a:t>
            </a:r>
            <a:r>
              <a:rPr lang="en-US" sz="2400" b="1" dirty="0">
                <a:latin typeface="Times New Roman" panose="02020603050405020304" pitchFamily="18" charset="0"/>
                <a:cs typeface="Times New Roman" panose="02020603050405020304" pitchFamily="18" charset="0"/>
              </a:rPr>
              <a:t>VPN</a:t>
            </a:r>
            <a:r>
              <a:rPr lang="en-US" sz="2400" dirty="0">
                <a:latin typeface="Times New Roman" panose="02020603050405020304" pitchFamily="18" charset="0"/>
                <a:cs typeface="Times New Roman" panose="02020603050405020304" pitchFamily="18" charset="0"/>
              </a:rPr>
              <a:t> server before being sent to the internet.</a:t>
            </a:r>
          </a:p>
          <a:p>
            <a:pPr>
              <a:lnSpc>
                <a:spcPct val="2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Your data is encrypted : </a:t>
            </a:r>
            <a:r>
              <a:rPr lang="en-US" sz="2400" dirty="0">
                <a:latin typeface="Times New Roman" panose="02020603050405020304" pitchFamily="18" charset="0"/>
                <a:cs typeface="Times New Roman" panose="02020603050405020304" pitchFamily="18" charset="0"/>
              </a:rPr>
              <a:t>The VPN encrypts your internet traffic, making it unreadable to outsiders.</a:t>
            </a:r>
          </a:p>
          <a:p>
            <a:pPr>
              <a:lnSpc>
                <a:spcPct val="200000"/>
              </a:lnSpc>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Your identity and location : </a:t>
            </a:r>
            <a:r>
              <a:rPr lang="en-US" sz="2400" dirty="0">
                <a:latin typeface="Times New Roman" panose="02020603050405020304" pitchFamily="18" charset="0"/>
                <a:cs typeface="Times New Roman" panose="02020603050405020304" pitchFamily="18" charset="0"/>
              </a:rPr>
              <a:t>are protected because websites and services view the IP of the VPN server rather than yours.  or </a:t>
            </a:r>
            <a:r>
              <a:rPr lang="en-US" sz="2400" dirty="0"/>
              <a:t>protecting your identity and location.</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9</a:t>
            </a:fld>
            <a:endParaRPr lang="en-US"/>
          </a:p>
        </p:txBody>
      </p:sp>
    </p:spTree>
    <p:extLst>
      <p:ext uri="{BB962C8B-B14F-4D97-AF65-F5344CB8AC3E}">
        <p14:creationId xmlns:p14="http://schemas.microsoft.com/office/powerpoint/2010/main" val="10085936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007"/>
          </a:xfrm>
        </p:spPr>
        <p:txBody>
          <a:bodyPr>
            <a:normAutofit/>
          </a:bodyPr>
          <a:lstStyle/>
          <a:p>
            <a:pPr algn="ctr"/>
            <a:r>
              <a:rPr lang="en-US" sz="3600" dirty="0">
                <a:latin typeface="Arial Black" panose="020B0A04020102020204" pitchFamily="34" charset="0"/>
              </a:rPr>
              <a:t>Types of VPNs</a:t>
            </a:r>
          </a:p>
        </p:txBody>
      </p:sp>
      <p:sp>
        <p:nvSpPr>
          <p:cNvPr id="3" name="Content Placeholder 2"/>
          <p:cNvSpPr>
            <a:spLocks noGrp="1"/>
          </p:cNvSpPr>
          <p:nvPr>
            <p:ph idx="1"/>
          </p:nvPr>
        </p:nvSpPr>
        <p:spPr>
          <a:xfrm>
            <a:off x="350196" y="904672"/>
            <a:ext cx="11517549" cy="5816803"/>
          </a:xfrm>
        </p:spPr>
        <p:txBody>
          <a:bodyPr/>
          <a:lstStyle/>
          <a:p>
            <a:pPr>
              <a:lnSpc>
                <a:spcPct val="200000"/>
              </a:lnSpc>
            </a:pPr>
            <a:r>
              <a:rPr lang="en-US" sz="2400" dirty="0">
                <a:latin typeface="Times New Roman" panose="02020603050405020304" pitchFamily="18" charset="0"/>
                <a:cs typeface="Times New Roman" panose="02020603050405020304" pitchFamily="18" charset="0"/>
              </a:rPr>
              <a:t>Often used for remote work, Remote Access VPN enables users to safely connect to a private network from any location.</a:t>
            </a:r>
          </a:p>
          <a:p>
            <a:pPr>
              <a:lnSpc>
                <a:spcPct val="200000"/>
              </a:lnSpc>
            </a:pPr>
            <a:r>
              <a:rPr lang="en-US" sz="2400" dirty="0">
                <a:latin typeface="Times New Roman" panose="02020603050405020304" pitchFamily="18" charset="0"/>
                <a:cs typeface="Times New Roman" panose="02020603050405020304" pitchFamily="18" charset="0"/>
              </a:rPr>
              <a:t>Site-to-Site VPN: Provides a secure online connection between several office sites.</a:t>
            </a:r>
          </a:p>
          <a:p>
            <a:pPr marL="0" indent="0" algn="ctr">
              <a:buNone/>
            </a:pPr>
            <a:endParaRPr lang="en-US" sz="2000" dirty="0">
              <a:latin typeface="Arial Black" panose="020B0A04020102020204" pitchFamily="34" charset="0"/>
            </a:endParaRPr>
          </a:p>
          <a:p>
            <a:pPr marL="0" indent="0" algn="ctr">
              <a:buNone/>
            </a:pPr>
            <a:r>
              <a:rPr lang="en-US" sz="2000" dirty="0">
                <a:latin typeface="Arial Black" panose="020B0A04020102020204" pitchFamily="34" charset="0"/>
              </a:rPr>
              <a:t>Benefits of Using a VPN.</a:t>
            </a:r>
          </a:p>
          <a:p>
            <a:pPr marL="0" indent="0">
              <a:lnSpc>
                <a:spcPct val="150000"/>
              </a:lnSpc>
              <a:buNone/>
            </a:pPr>
            <a:r>
              <a:rPr lang="en-US" sz="2000" b="1" dirty="0">
                <a:latin typeface="Times New Roman" panose="02020603050405020304" pitchFamily="18" charset="0"/>
                <a:cs typeface="Times New Roman" panose="02020603050405020304" pitchFamily="18" charset="0"/>
              </a:rPr>
              <a:t>Privacy Protection</a:t>
            </a:r>
            <a:r>
              <a:rPr lang="en-US" sz="2000" dirty="0">
                <a:latin typeface="Times New Roman" panose="02020603050405020304" pitchFamily="18" charset="0"/>
                <a:cs typeface="Times New Roman" panose="02020603050405020304" pitchFamily="18" charset="0"/>
              </a:rPr>
              <a:t> – Hides your IP address and browsing activity.</a:t>
            </a: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Data Encryption</a:t>
            </a:r>
            <a:r>
              <a:rPr lang="en-US" sz="2000" dirty="0">
                <a:latin typeface="Times New Roman" panose="02020603050405020304" pitchFamily="18" charset="0"/>
                <a:cs typeface="Times New Roman" panose="02020603050405020304" pitchFamily="18" charset="0"/>
              </a:rPr>
              <a:t> – Secures your online data from hackers and cyber threats.</a:t>
            </a:r>
          </a:p>
          <a:p>
            <a:pPr marL="0" indent="0">
              <a:lnSpc>
                <a:spcPct val="150000"/>
              </a:lnSpc>
              <a:buNone/>
            </a:pPr>
            <a:r>
              <a:rPr lang="en-US" sz="2000" b="1" dirty="0">
                <a:latin typeface="Times New Roman" panose="02020603050405020304" pitchFamily="18" charset="0"/>
                <a:cs typeface="Times New Roman" panose="02020603050405020304" pitchFamily="18" charset="0"/>
              </a:rPr>
              <a:t>Secure Remote Access</a:t>
            </a:r>
            <a:r>
              <a:rPr lang="en-US" sz="2000" dirty="0">
                <a:latin typeface="Times New Roman" panose="02020603050405020304" pitchFamily="18" charset="0"/>
                <a:cs typeface="Times New Roman" panose="02020603050405020304" pitchFamily="18" charset="0"/>
              </a:rPr>
              <a:t> – Enables employees to work safely from anywhere.</a:t>
            </a:r>
          </a:p>
        </p:txBody>
      </p:sp>
      <p:sp>
        <p:nvSpPr>
          <p:cNvPr id="4" name="Slide Number Placeholder 3"/>
          <p:cNvSpPr>
            <a:spLocks noGrp="1"/>
          </p:cNvSpPr>
          <p:nvPr>
            <p:ph type="sldNum" sz="quarter" idx="12"/>
          </p:nvPr>
        </p:nvSpPr>
        <p:spPr/>
        <p:txBody>
          <a:bodyPr/>
          <a:lstStyle/>
          <a:p>
            <a:fld id="{9426EEF7-B005-4926-9DF9-6CB0296B93C6}" type="slidenum">
              <a:rPr lang="en-US" smtClean="0"/>
              <a:t>10</a:t>
            </a:fld>
            <a:endParaRPr lang="en-US"/>
          </a:p>
        </p:txBody>
      </p:sp>
    </p:spTree>
    <p:extLst>
      <p:ext uri="{BB962C8B-B14F-4D97-AF65-F5344CB8AC3E}">
        <p14:creationId xmlns:p14="http://schemas.microsoft.com/office/powerpoint/2010/main" val="651658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28654"/>
          </a:xfrm>
        </p:spPr>
        <p:txBody>
          <a:bodyPr>
            <a:normAutofit/>
          </a:bodyPr>
          <a:lstStyle/>
          <a:p>
            <a:pPr algn="ctr"/>
            <a:r>
              <a:rPr lang="en-US" sz="3600" dirty="0">
                <a:latin typeface="Arial Black" panose="020B0A04020102020204" pitchFamily="34" charset="0"/>
              </a:rPr>
              <a:t>Popular VPN Services</a:t>
            </a:r>
          </a:p>
        </p:txBody>
      </p:sp>
      <p:sp>
        <p:nvSpPr>
          <p:cNvPr id="4" name="Slide Number Placeholder 3"/>
          <p:cNvSpPr>
            <a:spLocks noGrp="1"/>
          </p:cNvSpPr>
          <p:nvPr>
            <p:ph type="sldNum" sz="quarter" idx="12"/>
          </p:nvPr>
        </p:nvSpPr>
        <p:spPr/>
        <p:txBody>
          <a:bodyPr/>
          <a:lstStyle/>
          <a:p>
            <a:fld id="{9426EEF7-B005-4926-9DF9-6CB0296B93C6}" type="slidenum">
              <a:rPr lang="en-US" smtClean="0"/>
              <a:t>11</a:t>
            </a:fld>
            <a:endParaRPr lang="en-US"/>
          </a:p>
        </p:txBody>
      </p:sp>
      <p:pic>
        <p:nvPicPr>
          <p:cNvPr id="3081" name="Picture 9" descr="NordVPN Review | PCMag"/>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05839" y="1533921"/>
            <a:ext cx="2169270" cy="1218923"/>
          </a:xfrm>
          <a:prstGeom prst="rect">
            <a:avLst/>
          </a:prstGeom>
          <a:noFill/>
          <a:extLst>
            <a:ext uri="{909E8E84-426E-40DD-AFC4-6F175D3DCCD1}">
              <a14:hiddenFill xmlns:a14="http://schemas.microsoft.com/office/drawing/2010/main">
                <a:solidFill>
                  <a:srgbClr val="FFFFFF"/>
                </a:solidFill>
              </a14:hiddenFill>
            </a:ext>
          </a:extLst>
        </p:spPr>
      </p:pic>
      <p:pic>
        <p:nvPicPr>
          <p:cNvPr id="3083" name="Picture 11" descr="ExpressVPN review: One of the fastest VPNs we've tested | ZDNE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1241" y="4133376"/>
            <a:ext cx="1946704" cy="1460028"/>
          </a:xfrm>
          <a:prstGeom prst="rect">
            <a:avLst/>
          </a:prstGeom>
          <a:noFill/>
          <a:extLst>
            <a:ext uri="{909E8E84-426E-40DD-AFC4-6F175D3DCCD1}">
              <a14:hiddenFill xmlns:a14="http://schemas.microsoft.com/office/drawing/2010/main">
                <a:solidFill>
                  <a:srgbClr val="FFFFFF"/>
                </a:solidFill>
              </a14:hiddenFill>
            </a:ext>
          </a:extLst>
        </p:spPr>
      </p:pic>
      <p:pic>
        <p:nvPicPr>
          <p:cNvPr id="3085" name="Picture 13" descr="Surfshark VPN Review 2025 - Pros &amp; Cons | AlwaysVP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63766" y="1533921"/>
            <a:ext cx="1387475" cy="1387475"/>
          </a:xfrm>
          <a:prstGeom prst="rect">
            <a:avLst/>
          </a:prstGeom>
          <a:noFill/>
          <a:extLst>
            <a:ext uri="{909E8E84-426E-40DD-AFC4-6F175D3DCCD1}">
              <a14:hiddenFill xmlns:a14="http://schemas.microsoft.com/office/drawing/2010/main">
                <a:solidFill>
                  <a:srgbClr val="FFFFFF"/>
                </a:solidFill>
              </a14:hiddenFill>
            </a:ext>
          </a:extLst>
        </p:spPr>
      </p:pic>
      <p:pic>
        <p:nvPicPr>
          <p:cNvPr id="3087" name="Picture 15" descr="CyberGhost VPN Review 2024: Great for Streaming, but Beware of Buggy Apps  and Iffy Data Practices - CNET"/>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46508" y="1533921"/>
            <a:ext cx="2471384" cy="1390153"/>
          </a:xfrm>
          <a:prstGeom prst="rect">
            <a:avLst/>
          </a:prstGeom>
          <a:noFill/>
          <a:extLst>
            <a:ext uri="{909E8E84-426E-40DD-AFC4-6F175D3DCCD1}">
              <a14:hiddenFill xmlns:a14="http://schemas.microsoft.com/office/drawing/2010/main">
                <a:solidFill>
                  <a:srgbClr val="FFFFFF"/>
                </a:solidFill>
              </a14:hiddenFill>
            </a:ext>
          </a:extLst>
        </p:spPr>
      </p:pic>
      <p:pic>
        <p:nvPicPr>
          <p:cNvPr id="3089" name="Picture 17" descr="Proton VPN Review | PCMa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8005" y="4382853"/>
            <a:ext cx="2151968" cy="121055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505839" y="3080462"/>
            <a:ext cx="2013626" cy="28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NordVPN</a:t>
            </a:r>
            <a:endParaRPr lang="en-US" dirty="0">
              <a:solidFill>
                <a:schemeClr val="tx1"/>
              </a:solidFill>
            </a:endParaRPr>
          </a:p>
        </p:txBody>
      </p:sp>
      <p:sp>
        <p:nvSpPr>
          <p:cNvPr id="16" name="Rectangle 15"/>
          <p:cNvSpPr/>
          <p:nvPr/>
        </p:nvSpPr>
        <p:spPr>
          <a:xfrm>
            <a:off x="4926472" y="3123808"/>
            <a:ext cx="2013626" cy="28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Surfshark</a:t>
            </a:r>
            <a:endParaRPr lang="en-US" dirty="0">
              <a:solidFill>
                <a:schemeClr val="tx1"/>
              </a:solidFill>
            </a:endParaRPr>
          </a:p>
        </p:txBody>
      </p:sp>
      <p:sp>
        <p:nvSpPr>
          <p:cNvPr id="17" name="Rectangle 16"/>
          <p:cNvSpPr/>
          <p:nvPr/>
        </p:nvSpPr>
        <p:spPr>
          <a:xfrm>
            <a:off x="557176" y="5350212"/>
            <a:ext cx="2013626" cy="28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ProtonVPN</a:t>
            </a:r>
            <a:endParaRPr lang="en-US" dirty="0">
              <a:solidFill>
                <a:schemeClr val="tx1"/>
              </a:solidFill>
            </a:endParaRPr>
          </a:p>
        </p:txBody>
      </p:sp>
      <p:sp>
        <p:nvSpPr>
          <p:cNvPr id="18" name="Rectangle 17"/>
          <p:cNvSpPr/>
          <p:nvPr/>
        </p:nvSpPr>
        <p:spPr>
          <a:xfrm>
            <a:off x="6484319" y="5770719"/>
            <a:ext cx="2013626" cy="28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ExpressVPN</a:t>
            </a:r>
            <a:r>
              <a:rPr lang="en-US" dirty="0">
                <a:solidFill>
                  <a:schemeClr val="tx1"/>
                </a:solidFill>
              </a:rPr>
              <a:t> </a:t>
            </a:r>
          </a:p>
        </p:txBody>
      </p:sp>
      <p:sp>
        <p:nvSpPr>
          <p:cNvPr id="19" name="Rectangle 18"/>
          <p:cNvSpPr/>
          <p:nvPr/>
        </p:nvSpPr>
        <p:spPr>
          <a:xfrm>
            <a:off x="8975387" y="3264859"/>
            <a:ext cx="2013626" cy="2821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CyberGhost</a:t>
            </a:r>
            <a:r>
              <a:rPr lang="en-US" dirty="0">
                <a:solidFill>
                  <a:schemeClr val="tx1"/>
                </a:solidFill>
              </a:rPr>
              <a:t> </a:t>
            </a:r>
          </a:p>
        </p:txBody>
      </p:sp>
    </p:spTree>
    <p:extLst>
      <p:ext uri="{BB962C8B-B14F-4D97-AF65-F5344CB8AC3E}">
        <p14:creationId xmlns:p14="http://schemas.microsoft.com/office/powerpoint/2010/main" val="1637769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74675"/>
          </a:xfrm>
        </p:spPr>
        <p:txBody>
          <a:bodyPr>
            <a:normAutofit fontScale="90000"/>
          </a:bodyPr>
          <a:lstStyle/>
          <a:p>
            <a:pPr algn="ctr"/>
            <a:r>
              <a:rPr lang="en-US" sz="3600" b="1" dirty="0">
                <a:latin typeface="Arial Black" panose="020B0A04020102020204" pitchFamily="34" charset="0"/>
              </a:rPr>
              <a:t>Ethernet </a:t>
            </a:r>
            <a:endParaRPr lang="en-US" sz="3600" dirty="0">
              <a:latin typeface="Arial Black" panose="020B0A04020102020204" pitchFamily="34" charset="0"/>
            </a:endParaRPr>
          </a:p>
        </p:txBody>
      </p:sp>
      <p:sp>
        <p:nvSpPr>
          <p:cNvPr id="3" name="Content Placeholder 2"/>
          <p:cNvSpPr>
            <a:spLocks noGrp="1"/>
          </p:cNvSpPr>
          <p:nvPr>
            <p:ph idx="1"/>
          </p:nvPr>
        </p:nvSpPr>
        <p:spPr>
          <a:xfrm>
            <a:off x="282102" y="939800"/>
            <a:ext cx="11673191" cy="5781675"/>
          </a:xfrm>
        </p:spPr>
        <p:txBody>
          <a:bodyPr>
            <a:noAutofit/>
          </a:bodyPr>
          <a:lstStyle/>
          <a:p>
            <a:pPr>
              <a:lnSpc>
                <a:spcPct val="150000"/>
              </a:lnSpc>
            </a:pPr>
            <a:r>
              <a:rPr lang="en-US" sz="1800" dirty="0"/>
              <a:t>The </a:t>
            </a:r>
            <a:r>
              <a:rPr lang="en-US" sz="1800" b="1" dirty="0"/>
              <a:t>Internet</a:t>
            </a:r>
            <a:r>
              <a:rPr lang="en-US" sz="1800" dirty="0"/>
              <a:t> is a </a:t>
            </a:r>
            <a:r>
              <a:rPr lang="en-US" sz="1800" b="1" dirty="0"/>
              <a:t>global network of interconnected computers</a:t>
            </a:r>
            <a:r>
              <a:rPr lang="en-US" sz="1800" dirty="0"/>
              <a:t> that allows people and devices to communicate, share information, and access online services. It connects millions of networks worldwide, including businesses, governments, schools, and individuals.</a:t>
            </a:r>
          </a:p>
          <a:p>
            <a:pPr>
              <a:lnSpc>
                <a:spcPct val="150000"/>
              </a:lnSpc>
            </a:pPr>
            <a:r>
              <a:rPr lang="en-US" sz="1800" dirty="0">
                <a:latin typeface="Times New Roman" panose="02020603050405020304" pitchFamily="18" charset="0"/>
                <a:cs typeface="Times New Roman" panose="02020603050405020304" pitchFamily="18" charset="0"/>
              </a:rPr>
              <a:t>This technology was invented by </a:t>
            </a:r>
            <a:r>
              <a:rPr lang="en-US" sz="1800" b="1" dirty="0">
                <a:latin typeface="Times New Roman" panose="02020603050405020304" pitchFamily="18" charset="0"/>
                <a:cs typeface="Times New Roman" panose="02020603050405020304" pitchFamily="18" charset="0"/>
              </a:rPr>
              <a:t>Bob </a:t>
            </a:r>
            <a:r>
              <a:rPr lang="en-US" sz="1800" dirty="0">
                <a:latin typeface="Times New Roman" panose="02020603050405020304" pitchFamily="18" charset="0"/>
                <a:cs typeface="Times New Roman" panose="02020603050405020304" pitchFamily="18" charset="0"/>
              </a:rPr>
              <a:t>and </a:t>
            </a:r>
            <a:r>
              <a:rPr lang="en-US" sz="1800" b="1" dirty="0">
                <a:latin typeface="Times New Roman" panose="02020603050405020304" pitchFamily="18" charset="0"/>
                <a:cs typeface="Times New Roman" panose="02020603050405020304" pitchFamily="18" charset="0"/>
              </a:rPr>
              <a:t>D.R. Boggs </a:t>
            </a:r>
            <a:r>
              <a:rPr lang="en-US" sz="1800" dirty="0">
                <a:latin typeface="Times New Roman" panose="02020603050405020304" pitchFamily="18" charset="0"/>
                <a:cs typeface="Times New Roman" panose="02020603050405020304" pitchFamily="18" charset="0"/>
              </a:rPr>
              <a:t>in the year </a:t>
            </a:r>
            <a:r>
              <a:rPr lang="en-US" sz="1800" b="1" dirty="0">
                <a:latin typeface="Times New Roman" panose="02020603050405020304" pitchFamily="18" charset="0"/>
                <a:cs typeface="Times New Roman" panose="02020603050405020304" pitchFamily="18" charset="0"/>
              </a:rPr>
              <a:t>1970. </a:t>
            </a:r>
          </a:p>
          <a:p>
            <a:pPr>
              <a:lnSpc>
                <a:spcPct val="150000"/>
              </a:lnSpc>
            </a:pPr>
            <a:r>
              <a:rPr lang="en-US" sz="1800" dirty="0">
                <a:latin typeface="Times New Roman" panose="02020603050405020304" pitchFamily="18" charset="0"/>
                <a:cs typeface="Times New Roman" panose="02020603050405020304" pitchFamily="18" charset="0"/>
              </a:rPr>
              <a:t>Ethernet connector is network interface card equipped with </a:t>
            </a:r>
            <a:r>
              <a:rPr lang="en-US" sz="1800" b="1" dirty="0">
                <a:latin typeface="Times New Roman" panose="02020603050405020304" pitchFamily="18" charset="0"/>
                <a:cs typeface="Times New Roman" panose="02020603050405020304" pitchFamily="18" charset="0"/>
              </a:rPr>
              <a:t>48-bits</a:t>
            </a:r>
            <a:r>
              <a:rPr lang="en-US" sz="1800" dirty="0">
                <a:latin typeface="Times New Roman" panose="02020603050405020304" pitchFamily="18" charset="0"/>
                <a:cs typeface="Times New Roman" panose="02020603050405020304" pitchFamily="18" charset="0"/>
              </a:rPr>
              <a:t> MAC address.</a:t>
            </a:r>
          </a:p>
          <a:p>
            <a:pPr>
              <a:lnSpc>
                <a:spcPct val="150000"/>
              </a:lnSpc>
            </a:pPr>
            <a:r>
              <a:rPr lang="en-US" sz="1800" dirty="0"/>
              <a:t>A MAC address (Media Access Control address) is a unique identifier used in computer networks to recognize devices connected to the network. The MAC address consists of 12 hexadecimal characters (0-9 and A-F) and is used to identify each device on the network, such as a computer, phone, or router.</a:t>
            </a:r>
          </a:p>
          <a:p>
            <a:pPr>
              <a:lnSpc>
                <a:spcPct val="150000"/>
              </a:lnSpc>
            </a:pPr>
            <a:r>
              <a:rPr lang="en-US" sz="1800" dirty="0"/>
              <a:t>The MAC address is located in the hardware of the device, specifically in the network interface card (NIC). For example, a MAC address might look like this: </a:t>
            </a:r>
            <a:r>
              <a:rPr lang="en-US" sz="1800" b="1" dirty="0"/>
              <a:t>00:1A:2B:3C:4D:5E</a:t>
            </a:r>
            <a:r>
              <a:rPr lang="en-US" sz="1800" dirty="0"/>
              <a:t>.</a:t>
            </a:r>
          </a:p>
          <a:p>
            <a:pPr>
              <a:lnSpc>
                <a:spcPct val="150000"/>
              </a:lnSpc>
            </a:pPr>
            <a:r>
              <a:rPr lang="en-US" sz="1800" b="1" dirty="0"/>
              <a:t>Device Identification</a:t>
            </a:r>
            <a:r>
              <a:rPr lang="en-US" sz="1800" dirty="0"/>
              <a:t>: The MAC address allows a network to identify devices. This is crucial when connecting different devices to the network, such as routers, computers, or phones.</a:t>
            </a:r>
          </a:p>
        </p:txBody>
      </p:sp>
      <p:sp>
        <p:nvSpPr>
          <p:cNvPr id="4" name="Slide Number Placeholder 3"/>
          <p:cNvSpPr>
            <a:spLocks noGrp="1"/>
          </p:cNvSpPr>
          <p:nvPr>
            <p:ph type="sldNum" sz="quarter" idx="12"/>
          </p:nvPr>
        </p:nvSpPr>
        <p:spPr/>
        <p:txBody>
          <a:bodyPr/>
          <a:lstStyle/>
          <a:p>
            <a:fld id="{9426EEF7-B005-4926-9DF9-6CB0296B93C6}" type="slidenum">
              <a:rPr lang="en-US" smtClean="0"/>
              <a:t>12</a:t>
            </a:fld>
            <a:endParaRPr lang="en-US"/>
          </a:p>
        </p:txBody>
      </p:sp>
    </p:spTree>
    <p:extLst>
      <p:ext uri="{BB962C8B-B14F-4D97-AF65-F5344CB8AC3E}">
        <p14:creationId xmlns:p14="http://schemas.microsoft.com/office/powerpoint/2010/main" val="3638248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0832"/>
          </a:xfrm>
        </p:spPr>
        <p:txBody>
          <a:bodyPr>
            <a:normAutofit/>
          </a:bodyPr>
          <a:lstStyle/>
          <a:p>
            <a:pPr algn="ctr"/>
            <a:r>
              <a:rPr lang="en-US" sz="3600" b="1" dirty="0">
                <a:latin typeface="Arial Black" panose="020B0A04020102020204" pitchFamily="34" charset="0"/>
              </a:rPr>
              <a:t>How Does the Internet Work?</a:t>
            </a:r>
            <a:endParaRPr lang="en-US" sz="3600" dirty="0">
              <a:latin typeface="Arial Black" panose="020B0A04020102020204" pitchFamily="34" charset="0"/>
            </a:endParaRPr>
          </a:p>
        </p:txBody>
      </p:sp>
      <p:sp>
        <p:nvSpPr>
          <p:cNvPr id="3" name="Content Placeholder 2"/>
          <p:cNvSpPr>
            <a:spLocks noGrp="1"/>
          </p:cNvSpPr>
          <p:nvPr>
            <p:ph idx="1"/>
          </p:nvPr>
        </p:nvSpPr>
        <p:spPr>
          <a:xfrm>
            <a:off x="291830" y="1215958"/>
            <a:ext cx="11430000" cy="5340485"/>
          </a:xfrm>
        </p:spPr>
        <p:txBody>
          <a:bodyPr>
            <a:normAutofit fontScale="85000" lnSpcReduction="10000"/>
          </a:bodyPr>
          <a:lstStyle/>
          <a:p>
            <a:pPr>
              <a:lnSpc>
                <a:spcPct val="150000"/>
              </a:lnSpc>
            </a:pPr>
            <a:r>
              <a:rPr lang="en-US" sz="2000" b="1" dirty="0">
                <a:latin typeface="Times New Roman" panose="02020603050405020304" pitchFamily="18" charset="0"/>
                <a:cs typeface="Times New Roman" panose="02020603050405020304" pitchFamily="18" charset="0"/>
              </a:rPr>
              <a:t>Devices Connect to the Internet</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Computers, smartphones, and other devices connect using Wi-Fi, mobile data, or wired connections.</a:t>
            </a:r>
          </a:p>
          <a:p>
            <a:pPr>
              <a:lnSpc>
                <a:spcPct val="150000"/>
              </a:lnSpc>
            </a:pPr>
            <a:r>
              <a:rPr lang="en-US" sz="2000" b="1" dirty="0">
                <a:latin typeface="Times New Roman" panose="02020603050405020304" pitchFamily="18" charset="0"/>
                <a:cs typeface="Times New Roman" panose="02020603050405020304" pitchFamily="18" charset="0"/>
              </a:rPr>
              <a:t>Data Travels Through Networks</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The internet works through a system of servers, routers, and cables that transmit data using the </a:t>
            </a:r>
            <a:r>
              <a:rPr lang="en-US" sz="2000" b="1" dirty="0">
                <a:latin typeface="Times New Roman" panose="02020603050405020304" pitchFamily="18" charset="0"/>
                <a:cs typeface="Times New Roman" panose="02020603050405020304" pitchFamily="18" charset="0"/>
              </a:rPr>
              <a:t>TCP/IP protocol</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Websites &amp; Services Are Hosted on Servers</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Websites and online services (</a:t>
            </a:r>
            <a:r>
              <a:rPr lang="en-US" sz="2000" b="1" dirty="0">
                <a:solidFill>
                  <a:srgbClr val="00B0F0"/>
                </a:solidFill>
                <a:latin typeface="Times New Roman" panose="02020603050405020304" pitchFamily="18" charset="0"/>
                <a:cs typeface="Times New Roman" panose="02020603050405020304" pitchFamily="18" charset="0"/>
              </a:rPr>
              <a:t>Google</a:t>
            </a:r>
            <a:r>
              <a:rPr lang="en-US" sz="2000" b="1" dirty="0">
                <a:latin typeface="Times New Roman" panose="02020603050405020304" pitchFamily="18" charset="0"/>
                <a:cs typeface="Times New Roman" panose="02020603050405020304" pitchFamily="18" charset="0"/>
              </a:rPr>
              <a:t>, </a:t>
            </a:r>
            <a:r>
              <a:rPr lang="en-US" sz="2000" b="1" dirty="0">
                <a:solidFill>
                  <a:srgbClr val="FF0000"/>
                </a:solidFill>
                <a:latin typeface="Times New Roman" panose="02020603050405020304" pitchFamily="18" charset="0"/>
                <a:cs typeface="Times New Roman" panose="02020603050405020304" pitchFamily="18" charset="0"/>
              </a:rPr>
              <a:t>YouTube</a:t>
            </a:r>
            <a:r>
              <a:rPr lang="en-US" sz="2000" b="1" dirty="0">
                <a:latin typeface="Times New Roman" panose="02020603050405020304" pitchFamily="18" charset="0"/>
                <a:cs typeface="Times New Roman" panose="02020603050405020304" pitchFamily="18" charset="0"/>
              </a:rPr>
              <a:t>, </a:t>
            </a:r>
            <a:r>
              <a:rPr lang="en-US" sz="2000" b="1" dirty="0">
                <a:solidFill>
                  <a:srgbClr val="00B050"/>
                </a:solidFill>
                <a:latin typeface="Times New Roman" panose="02020603050405020304" pitchFamily="18" charset="0"/>
                <a:cs typeface="Times New Roman" panose="02020603050405020304" pitchFamily="18" charset="0"/>
              </a:rPr>
              <a:t>Facebook</a:t>
            </a:r>
            <a:r>
              <a:rPr lang="en-US" sz="2000" dirty="0">
                <a:latin typeface="Times New Roman" panose="02020603050405020304" pitchFamily="18" charset="0"/>
                <a:cs typeface="Times New Roman" panose="02020603050405020304" pitchFamily="18" charset="0"/>
              </a:rPr>
              <a:t>) are stored on powerful computers called </a:t>
            </a:r>
            <a:r>
              <a:rPr lang="en-US" sz="2000" b="1" dirty="0">
                <a:latin typeface="Times New Roman" panose="02020603050405020304" pitchFamily="18" charset="0"/>
                <a:cs typeface="Times New Roman" panose="02020603050405020304" pitchFamily="18" charset="0"/>
              </a:rPr>
              <a:t>servers</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b="1" dirty="0">
                <a:latin typeface="Times New Roman" panose="02020603050405020304" pitchFamily="18" charset="0"/>
                <a:cs typeface="Times New Roman" panose="02020603050405020304" pitchFamily="18" charset="0"/>
              </a:rPr>
              <a:t>You Access Information Using URLs &amp; IP Addresses</a:t>
            </a:r>
            <a:endParaRPr lang="en-US" sz="2000" dirty="0">
              <a:latin typeface="Times New Roman" panose="02020603050405020304" pitchFamily="18" charset="0"/>
              <a:cs typeface="Times New Roman" panose="02020603050405020304" pitchFamily="18" charset="0"/>
            </a:endParaRPr>
          </a:p>
          <a:p>
            <a:pPr lvl="1">
              <a:lnSpc>
                <a:spcPct val="150000"/>
              </a:lnSpc>
            </a:pPr>
            <a:r>
              <a:rPr lang="en-US" sz="2000" dirty="0">
                <a:latin typeface="Times New Roman" panose="02020603050405020304" pitchFamily="18" charset="0"/>
                <a:cs typeface="Times New Roman" panose="02020603050405020304" pitchFamily="18" charset="0"/>
              </a:rPr>
              <a:t>When you type a website address </a:t>
            </a:r>
            <a:r>
              <a:rPr lang="en-US" sz="2000" b="1" dirty="0">
                <a:latin typeface="Times New Roman" panose="02020603050405020304" pitchFamily="18" charset="0"/>
                <a:cs typeface="Times New Roman" panose="02020603050405020304" pitchFamily="18" charset="0"/>
              </a:rPr>
              <a:t>(like www.google.com), </a:t>
            </a:r>
            <a:r>
              <a:rPr lang="en-US" sz="2000" dirty="0">
                <a:latin typeface="Times New Roman" panose="02020603050405020304" pitchFamily="18" charset="0"/>
                <a:cs typeface="Times New Roman" panose="02020603050405020304" pitchFamily="18" charset="0"/>
              </a:rPr>
              <a:t>your browser connects to the website's </a:t>
            </a:r>
            <a:r>
              <a:rPr lang="en-US" sz="2000" b="1" dirty="0">
                <a:latin typeface="Times New Roman" panose="02020603050405020304" pitchFamily="18" charset="0"/>
                <a:cs typeface="Times New Roman" panose="02020603050405020304" pitchFamily="18" charset="0"/>
              </a:rPr>
              <a:t>IP address</a:t>
            </a:r>
            <a:r>
              <a:rPr lang="en-US" sz="2000" dirty="0">
                <a:latin typeface="Times New Roman" panose="02020603050405020304" pitchFamily="18" charset="0"/>
                <a:cs typeface="Times New Roman" panose="02020603050405020304" pitchFamily="18" charset="0"/>
              </a:rPr>
              <a:t> using the </a:t>
            </a:r>
            <a:r>
              <a:rPr lang="en-US" sz="2000" b="1" dirty="0">
                <a:latin typeface="Times New Roman" panose="02020603050405020304" pitchFamily="18" charset="0"/>
                <a:cs typeface="Times New Roman" panose="02020603050405020304" pitchFamily="18" charset="0"/>
              </a:rPr>
              <a:t>Domain Name System (DNS)</a:t>
            </a:r>
            <a:r>
              <a:rPr lang="en-US" sz="2000" dirty="0">
                <a:latin typeface="Times New Roman" panose="02020603050405020304" pitchFamily="18" charset="0"/>
                <a:cs typeface="Times New Roman" panose="02020603050405020304" pitchFamily="18" charset="0"/>
              </a:rPr>
              <a:t>.</a:t>
            </a:r>
          </a:p>
          <a:p>
            <a:pPr lvl="1">
              <a:lnSpc>
                <a:spcPct val="150000"/>
              </a:lnSpc>
            </a:pPr>
            <a:r>
              <a:rPr lang="en-US" sz="2100" dirty="0"/>
              <a:t>DNS (</a:t>
            </a:r>
            <a:r>
              <a:rPr lang="en-US" sz="2100" b="1" dirty="0"/>
              <a:t>Domain Name System</a:t>
            </a:r>
            <a:r>
              <a:rPr lang="en-US" sz="2100" dirty="0"/>
              <a:t>) is a system used to translate domain names (such as website names) into IP addresses.</a:t>
            </a:r>
          </a:p>
          <a:p>
            <a:pPr lvl="1">
              <a:lnSpc>
                <a:spcPct val="150000"/>
              </a:lnSpc>
            </a:pPr>
            <a:r>
              <a:rPr lang="en-US" sz="1900" b="1" dirty="0"/>
              <a:t>DNS</a:t>
            </a:r>
            <a:r>
              <a:rPr lang="en-US" sz="1900" dirty="0"/>
              <a:t> allows you to use names like </a:t>
            </a:r>
            <a:r>
              <a:rPr lang="en-US" sz="1900" b="1" dirty="0">
                <a:hlinkClick r:id="rId2"/>
              </a:rPr>
              <a:t>www.google.com</a:t>
            </a:r>
            <a:r>
              <a:rPr lang="en-US" sz="1900" dirty="0"/>
              <a:t> instead of the actual IP address of Google's server.</a:t>
            </a:r>
            <a:endParaRPr lang="en-US" sz="21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13</a:t>
            </a:fld>
            <a:endParaRPr lang="en-US"/>
          </a:p>
        </p:txBody>
      </p:sp>
    </p:spTree>
    <p:extLst>
      <p:ext uri="{BB962C8B-B14F-4D97-AF65-F5344CB8AC3E}">
        <p14:creationId xmlns:p14="http://schemas.microsoft.com/office/powerpoint/2010/main" val="976780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5425"/>
            <a:ext cx="10515600" cy="714375"/>
          </a:xfrm>
        </p:spPr>
        <p:txBody>
          <a:bodyPr>
            <a:normAutofit/>
          </a:bodyPr>
          <a:lstStyle/>
          <a:p>
            <a:pPr algn="ctr"/>
            <a:r>
              <a:rPr lang="en-US" sz="3200" b="1" dirty="0">
                <a:latin typeface="Arial Black" panose="020B0A04020102020204" pitchFamily="34" charset="0"/>
                <a:cs typeface="Times New Roman" panose="02020603050405020304" pitchFamily="18" charset="0"/>
              </a:rPr>
              <a:t>Virtual LAN </a:t>
            </a:r>
            <a:endParaRPr lang="en-US" sz="3200" dirty="0">
              <a:latin typeface="Arial Black" panose="020B0A04020102020204" pitchFamily="34" charset="0"/>
              <a:cs typeface="Times New Roman" panose="02020603050405020304" pitchFamily="18" charset="0"/>
            </a:endParaRPr>
          </a:p>
        </p:txBody>
      </p:sp>
      <p:sp>
        <p:nvSpPr>
          <p:cNvPr id="3" name="Content Placeholder 2"/>
          <p:cNvSpPr>
            <a:spLocks noGrp="1"/>
          </p:cNvSpPr>
          <p:nvPr>
            <p:ph idx="1"/>
          </p:nvPr>
        </p:nvSpPr>
        <p:spPr>
          <a:xfrm>
            <a:off x="838200" y="1155700"/>
            <a:ext cx="10515600" cy="5168900"/>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VLAN (Virtual Local Area Network)</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logical</a:t>
            </a:r>
            <a:r>
              <a:rPr lang="en-US" sz="2000" dirty="0">
                <a:latin typeface="Times New Roman" panose="02020603050405020304" pitchFamily="18" charset="0"/>
                <a:cs typeface="Times New Roman" panose="02020603050405020304" pitchFamily="18" charset="0"/>
              </a:rPr>
              <a:t> network that allows devices to be grouped together, even if they are not physically connected to the same switch.</a:t>
            </a:r>
          </a:p>
          <a:p>
            <a:pPr>
              <a:lnSpc>
                <a:spcPct val="150000"/>
              </a:lnSpc>
            </a:pPr>
            <a:r>
              <a:rPr lang="en-US" sz="2000" dirty="0">
                <a:latin typeface="Times New Roman" panose="02020603050405020304" pitchFamily="18" charset="0"/>
                <a:cs typeface="Times New Roman" panose="02020603050405020304" pitchFamily="18" charset="0"/>
              </a:rPr>
              <a:t>Introduction of switches to Ethernet has removed single collision domain issue and each device connected to switch works in its separate collision domain.</a:t>
            </a:r>
          </a:p>
          <a:p>
            <a:pPr>
              <a:lnSpc>
                <a:spcPct val="150000"/>
              </a:lnSpc>
            </a:pPr>
            <a:r>
              <a:rPr lang="en-US" sz="2000" dirty="0">
                <a:latin typeface="Times New Roman" panose="02020603050405020304" pitchFamily="18" charset="0"/>
                <a:cs typeface="Times New Roman" panose="02020603050405020304" pitchFamily="18" charset="0"/>
              </a:rPr>
              <a:t> But even Switches cannot divide a network into separate Broadcast domains. </a:t>
            </a:r>
          </a:p>
          <a:p>
            <a:pPr>
              <a:lnSpc>
                <a:spcPct val="150000"/>
              </a:lnSpc>
            </a:pPr>
            <a:r>
              <a:rPr lang="en-US" sz="2000" dirty="0">
                <a:latin typeface="Times New Roman" panose="02020603050405020304" pitchFamily="18" charset="0"/>
                <a:cs typeface="Times New Roman" panose="02020603050405020304" pitchFamily="18" charset="0"/>
              </a:rPr>
              <a:t>Host in one VLAN cannot speak to a host in another. </a:t>
            </a:r>
          </a:p>
          <a:p>
            <a:endParaRPr lang="en-US" sz="2400" dirty="0">
              <a:latin typeface="Times New Roman" panose="02020603050405020304" pitchFamily="18" charset="0"/>
              <a:cs typeface="Times New Roman" panose="02020603050405020304" pitchFamily="18" charset="0"/>
            </a:endParaRPr>
          </a:p>
        </p:txBody>
      </p:sp>
      <p:pic>
        <p:nvPicPr>
          <p:cNvPr id="4" name="Content Placeholder 3"/>
          <p:cNvPicPr>
            <a:picLocks noChangeAspect="1"/>
          </p:cNvPicPr>
          <p:nvPr/>
        </p:nvPicPr>
        <p:blipFill>
          <a:blip r:embed="rId2"/>
          <a:stretch>
            <a:fillRect/>
          </a:stretch>
        </p:blipFill>
        <p:spPr>
          <a:xfrm>
            <a:off x="8293469" y="3907919"/>
            <a:ext cx="3654084" cy="2813556"/>
          </a:xfrm>
          <a:prstGeom prst="rect">
            <a:avLst/>
          </a:prstGeom>
          <a:ln>
            <a:noFill/>
          </a:ln>
          <a:effectLst>
            <a:outerShdw blurRad="190500" algn="tl" rotWithShape="0">
              <a:srgbClr val="000000">
                <a:alpha val="70000"/>
              </a:srgbClr>
            </a:outerShdw>
          </a:effectLst>
        </p:spPr>
      </p:pic>
      <p:sp>
        <p:nvSpPr>
          <p:cNvPr id="5" name="Slide Number Placeholder 4"/>
          <p:cNvSpPr>
            <a:spLocks noGrp="1"/>
          </p:cNvSpPr>
          <p:nvPr>
            <p:ph type="sldNum" sz="quarter" idx="12"/>
          </p:nvPr>
        </p:nvSpPr>
        <p:spPr/>
        <p:txBody>
          <a:bodyPr/>
          <a:lstStyle/>
          <a:p>
            <a:fld id="{9426EEF7-B005-4926-9DF9-6CB0296B93C6}" type="slidenum">
              <a:rPr lang="en-US" smtClean="0"/>
              <a:t>14</a:t>
            </a:fld>
            <a:endParaRPr lang="en-US"/>
          </a:p>
        </p:txBody>
      </p:sp>
    </p:spTree>
    <p:extLst>
      <p:ext uri="{BB962C8B-B14F-4D97-AF65-F5344CB8AC3E}">
        <p14:creationId xmlns:p14="http://schemas.microsoft.com/office/powerpoint/2010/main" val="4277099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5462"/>
          </a:xfrm>
        </p:spPr>
        <p:txBody>
          <a:bodyPr>
            <a:normAutofit/>
          </a:bodyPr>
          <a:lstStyle/>
          <a:p>
            <a:pPr algn="ctr"/>
            <a:r>
              <a:rPr lang="en-US" sz="3600" b="1" dirty="0">
                <a:latin typeface="Arial Black" panose="020B0A04020102020204" pitchFamily="34" charset="0"/>
              </a:rPr>
              <a:t>Network </a:t>
            </a:r>
          </a:p>
        </p:txBody>
      </p:sp>
      <p:sp>
        <p:nvSpPr>
          <p:cNvPr id="3" name="Content Placeholder 2"/>
          <p:cNvSpPr>
            <a:spLocks noGrp="1"/>
          </p:cNvSpPr>
          <p:nvPr>
            <p:ph idx="1"/>
          </p:nvPr>
        </p:nvSpPr>
        <p:spPr>
          <a:xfrm>
            <a:off x="760378" y="1193326"/>
            <a:ext cx="11117093" cy="5664673"/>
          </a:xfrm>
        </p:spPr>
        <p:txBody>
          <a:bodyPr>
            <a:normAutofit/>
          </a:bodyPr>
          <a:lstStyle/>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A network is a collection of computers, servers, mainframes, network devices, and other devices connected to one another to allow the sharing of data and resources. </a:t>
            </a:r>
          </a:p>
          <a:p>
            <a:pPr>
              <a:lnSpc>
                <a:spcPct val="150000"/>
              </a:lnSpc>
            </a:pPr>
            <a:r>
              <a:rPr lang="en-US" sz="2000" dirty="0">
                <a:latin typeface="Times New Roman" panose="02020603050405020304" pitchFamily="18" charset="0"/>
                <a:ea typeface="Tahoma" panose="020B0604030504040204" pitchFamily="34" charset="0"/>
                <a:cs typeface="Times New Roman" panose="02020603050405020304" pitchFamily="18" charset="0"/>
              </a:rPr>
              <a:t>Networks can be as small as two computers connected to each other or as large as the internet, which connects millions of devices globally.</a:t>
            </a:r>
          </a:p>
        </p:txBody>
      </p:sp>
      <p:pic>
        <p:nvPicPr>
          <p:cNvPr id="2050" name="Picture 2" descr="What is a Network? - DenizHali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9257" y="3749323"/>
            <a:ext cx="3917661" cy="260702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9426EEF7-B005-4926-9DF9-6CB0296B93C6}" type="slidenum">
              <a:rPr lang="en-US" smtClean="0"/>
              <a:t>15</a:t>
            </a:fld>
            <a:endParaRPr lang="en-US"/>
          </a:p>
        </p:txBody>
      </p:sp>
    </p:spTree>
    <p:extLst>
      <p:ext uri="{BB962C8B-B14F-4D97-AF65-F5344CB8AC3E}">
        <p14:creationId xmlns:p14="http://schemas.microsoft.com/office/powerpoint/2010/main" val="24084632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5749" y="262985"/>
            <a:ext cx="10515600" cy="845969"/>
          </a:xfrm>
        </p:spPr>
        <p:txBody>
          <a:bodyPr/>
          <a:lstStyle/>
          <a:p>
            <a:pPr algn="ctr"/>
            <a:r>
              <a:rPr lang="en-US" sz="2800" dirty="0">
                <a:latin typeface="Arial Black" panose="020B0A04020102020204" pitchFamily="34" charset="0"/>
              </a:rPr>
              <a:t>The Purpose of Networks </a:t>
            </a:r>
          </a:p>
        </p:txBody>
      </p:sp>
      <p:sp>
        <p:nvSpPr>
          <p:cNvPr id="3" name="Content Placeholder 2"/>
          <p:cNvSpPr>
            <a:spLocks noGrp="1"/>
          </p:cNvSpPr>
          <p:nvPr>
            <p:ph idx="1"/>
          </p:nvPr>
        </p:nvSpPr>
        <p:spPr>
          <a:xfrm>
            <a:off x="680936" y="1108954"/>
            <a:ext cx="10672864" cy="5145931"/>
          </a:xfrm>
        </p:spPr>
        <p:txBody>
          <a:bodyPr>
            <a:normAutofit fontScale="85000" lnSpcReduction="20000"/>
          </a:bodyPr>
          <a:lstStyle/>
          <a:p>
            <a:pPr>
              <a:lnSpc>
                <a:spcPct val="170000"/>
              </a:lnSpc>
            </a:pPr>
            <a:r>
              <a:rPr lang="en-US" sz="2400" dirty="0">
                <a:latin typeface="Times New Roman" panose="02020603050405020304" pitchFamily="18" charset="0"/>
                <a:cs typeface="Times New Roman" panose="02020603050405020304" pitchFamily="18" charset="0"/>
              </a:rPr>
              <a:t>At one time, file-sharing consisted mostly of saving documents to floppy disks that could be physically transferred to other computers by hand. </a:t>
            </a:r>
          </a:p>
          <a:p>
            <a:pPr>
              <a:lnSpc>
                <a:spcPct val="170000"/>
              </a:lnSpc>
            </a:pPr>
            <a:r>
              <a:rPr lang="en-US" sz="2400" dirty="0">
                <a:latin typeface="Times New Roman" panose="02020603050405020304" pitchFamily="18" charset="0"/>
                <a:cs typeface="Times New Roman" panose="02020603050405020304" pitchFamily="18" charset="0"/>
              </a:rPr>
              <a:t>With networking, however, files can be shared instantaneously across the network.</a:t>
            </a:r>
          </a:p>
          <a:p>
            <a:pPr marL="0" indent="0">
              <a:lnSpc>
                <a:spcPct val="170000"/>
              </a:lnSpc>
              <a:buNone/>
            </a:pPr>
            <a:r>
              <a:rPr lang="en-US" sz="2400" dirty="0">
                <a:latin typeface="Times New Roman" panose="02020603050405020304" pitchFamily="18" charset="0"/>
                <a:cs typeface="Times New Roman" panose="02020603050405020304" pitchFamily="18" charset="0"/>
              </a:rPr>
              <a:t>■ File sharing between two computers.</a:t>
            </a:r>
          </a:p>
          <a:p>
            <a:pPr marL="0" indent="0">
              <a:lnSpc>
                <a:spcPct val="170000"/>
              </a:lnSpc>
              <a:buNone/>
            </a:pPr>
            <a:r>
              <a:rPr lang="en-US" sz="2400" dirty="0">
                <a:latin typeface="Times New Roman" panose="02020603050405020304" pitchFamily="18" charset="0"/>
                <a:cs typeface="Times New Roman" panose="02020603050405020304" pitchFamily="18" charset="0"/>
              </a:rPr>
              <a:t>■ Surfing the web (for example, to use social media sites, watch streaming video, listen to an Internet radio station, or do research for a school term paper).</a:t>
            </a:r>
          </a:p>
          <a:p>
            <a:pPr marL="0" indent="0">
              <a:lnSpc>
                <a:spcPct val="170000"/>
              </a:lnSpc>
              <a:buNone/>
            </a:pPr>
            <a:r>
              <a:rPr lang="en-US" sz="2400" dirty="0">
                <a:latin typeface="Times New Roman" panose="02020603050405020304" pitchFamily="18" charset="0"/>
                <a:cs typeface="Times New Roman" panose="02020603050405020304" pitchFamily="18" charset="0"/>
              </a:rPr>
              <a:t>■ Messaging between computers.</a:t>
            </a:r>
          </a:p>
          <a:p>
            <a:pPr marL="0" indent="0">
              <a:lnSpc>
                <a:spcPct val="170000"/>
              </a:lnSpc>
              <a:buNone/>
            </a:pPr>
            <a:r>
              <a:rPr lang="en-US" sz="2400" dirty="0">
                <a:latin typeface="Times New Roman" panose="02020603050405020304" pitchFamily="18" charset="0"/>
                <a:cs typeface="Times New Roman" panose="02020603050405020304" pitchFamily="18" charset="0"/>
              </a:rPr>
              <a:t>■ E-mail.</a:t>
            </a:r>
          </a:p>
          <a:p>
            <a:pPr marL="0" indent="0">
              <a:lnSpc>
                <a:spcPct val="170000"/>
              </a:lnSpc>
              <a:buNone/>
            </a:pPr>
            <a:r>
              <a:rPr lang="en-US" sz="2400" dirty="0">
                <a:latin typeface="Times New Roman" panose="02020603050405020304" pitchFamily="18" charset="0"/>
                <a:cs typeface="Times New Roman" panose="02020603050405020304" pitchFamily="18" charset="0"/>
              </a:rPr>
              <a:t>■ Voice over IP (VoIP), to replace traditional telephony systems </a:t>
            </a:r>
          </a:p>
        </p:txBody>
      </p:sp>
      <p:sp>
        <p:nvSpPr>
          <p:cNvPr id="4" name="Slide Number Placeholder 3"/>
          <p:cNvSpPr>
            <a:spLocks noGrp="1"/>
          </p:cNvSpPr>
          <p:nvPr>
            <p:ph type="sldNum" sz="quarter" idx="12"/>
          </p:nvPr>
        </p:nvSpPr>
        <p:spPr/>
        <p:txBody>
          <a:bodyPr/>
          <a:lstStyle/>
          <a:p>
            <a:fld id="{9426EEF7-B005-4926-9DF9-6CB0296B93C6}" type="slidenum">
              <a:rPr lang="en-US" smtClean="0"/>
              <a:t>16</a:t>
            </a:fld>
            <a:endParaRPr lang="en-US"/>
          </a:p>
        </p:txBody>
      </p:sp>
    </p:spTree>
    <p:extLst>
      <p:ext uri="{BB962C8B-B14F-4D97-AF65-F5344CB8AC3E}">
        <p14:creationId xmlns:p14="http://schemas.microsoft.com/office/powerpoint/2010/main" val="96700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300" y="212725"/>
            <a:ext cx="10515600" cy="523875"/>
          </a:xfrm>
        </p:spPr>
        <p:txBody>
          <a:bodyPr>
            <a:noAutofit/>
          </a:bodyPr>
          <a:lstStyle/>
          <a:p>
            <a:r>
              <a:rPr lang="en-US" sz="3200" b="1" dirty="0"/>
              <a:t>Cont.……</a:t>
            </a:r>
          </a:p>
        </p:txBody>
      </p:sp>
      <p:sp>
        <p:nvSpPr>
          <p:cNvPr id="3" name="Content Placeholder 2"/>
          <p:cNvSpPr>
            <a:spLocks noGrp="1"/>
          </p:cNvSpPr>
          <p:nvPr>
            <p:ph idx="1"/>
          </p:nvPr>
        </p:nvSpPr>
        <p:spPr>
          <a:xfrm>
            <a:off x="749300" y="1000124"/>
            <a:ext cx="10515600" cy="5603875"/>
          </a:xfrm>
        </p:spPr>
        <p:txBody>
          <a:bodyPr>
            <a:normAutofit/>
          </a:bodyPr>
          <a:lstStyle/>
          <a:p>
            <a:r>
              <a:rPr lang="en-US" sz="2400" dirty="0">
                <a:latin typeface="Times New Roman" panose="02020603050405020304" pitchFamily="18" charset="0"/>
                <a:cs typeface="Times New Roman" panose="02020603050405020304" pitchFamily="18" charset="0"/>
              </a:rPr>
              <a:t>A Network Transporting multiple types of traffic </a:t>
            </a:r>
          </a:p>
          <a:p>
            <a:pPr marL="0" indent="0">
              <a:buNone/>
            </a:pP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for example </a:t>
            </a:r>
          </a:p>
          <a:p>
            <a:pP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voice, video, and data  </a:t>
            </a:r>
            <a:r>
              <a:rPr lang="en-US" sz="2400" dirty="0">
                <a:latin typeface="Times New Roman" panose="02020603050405020304" pitchFamily="18" charset="0"/>
                <a:cs typeface="Times New Roman" panose="02020603050405020304" pitchFamily="18" charset="0"/>
              </a:rPr>
              <a:t>is a converged network. </a:t>
            </a: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17</a:t>
            </a:fld>
            <a:endParaRPr lang="en-US"/>
          </a:p>
        </p:txBody>
      </p:sp>
    </p:spTree>
    <p:extLst>
      <p:ext uri="{BB962C8B-B14F-4D97-AF65-F5344CB8AC3E}">
        <p14:creationId xmlns:p14="http://schemas.microsoft.com/office/powerpoint/2010/main" val="34683775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9618" y="314037"/>
            <a:ext cx="10515600" cy="707367"/>
          </a:xfrm>
        </p:spPr>
        <p:txBody>
          <a:bodyPr>
            <a:noAutofit/>
          </a:bodyPr>
          <a:lstStyle/>
          <a:p>
            <a:pPr algn="ctr"/>
            <a:r>
              <a:rPr lang="en-US" sz="2800" b="1" dirty="0">
                <a:latin typeface="Arial Black" panose="020B0A04020102020204" pitchFamily="34" charset="0"/>
              </a:rPr>
              <a:t>Network Components </a:t>
            </a:r>
          </a:p>
        </p:txBody>
      </p:sp>
      <p:sp>
        <p:nvSpPr>
          <p:cNvPr id="3" name="Content Placeholder 2"/>
          <p:cNvSpPr>
            <a:spLocks noGrp="1"/>
          </p:cNvSpPr>
          <p:nvPr>
            <p:ph idx="1"/>
          </p:nvPr>
        </p:nvSpPr>
        <p:spPr>
          <a:xfrm>
            <a:off x="223736" y="1147864"/>
            <a:ext cx="11571101" cy="5279759"/>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A computer network is build up from several components. These components together makes it possible to transfer data from one device to another and makes smooth communication between two different devices. In this guide, we will discuss the main components of a computer network.</a:t>
            </a:r>
          </a:p>
          <a:p>
            <a:endParaRPr lang="en-US" sz="2400" dirty="0">
              <a:latin typeface="Times New Roman" panose="02020603050405020304" pitchFamily="18" charset="0"/>
              <a:cs typeface="Times New Roman" panose="02020603050405020304" pitchFamily="18" charset="0"/>
            </a:endParaRPr>
          </a:p>
        </p:txBody>
      </p:sp>
      <p:pic>
        <p:nvPicPr>
          <p:cNvPr id="1026" name="Picture 2" descr="Network Components and Devices- CompTIA Network+ | by Mohit Damke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9913" y="3315298"/>
            <a:ext cx="5676962" cy="340617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9426EEF7-B005-4926-9DF9-6CB0296B93C6}" type="slidenum">
              <a:rPr lang="en-US" smtClean="0"/>
              <a:t>18</a:t>
            </a:fld>
            <a:endParaRPr lang="en-US"/>
          </a:p>
        </p:txBody>
      </p:sp>
    </p:spTree>
    <p:extLst>
      <p:ext uri="{BB962C8B-B14F-4D97-AF65-F5344CB8AC3E}">
        <p14:creationId xmlns:p14="http://schemas.microsoft.com/office/powerpoint/2010/main" val="127382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1000"/>
                                        <p:tgtEl>
                                          <p:spTgt spid="1026"/>
                                        </p:tgtEl>
                                      </p:cBhvr>
                                    </p:animEffect>
                                    <p:anim calcmode="lin" valueType="num">
                                      <p:cBhvr>
                                        <p:cTn id="14" dur="1000" fill="hold"/>
                                        <p:tgtEl>
                                          <p:spTgt spid="1026"/>
                                        </p:tgtEl>
                                        <p:attrNameLst>
                                          <p:attrName>ppt_x</p:attrName>
                                        </p:attrNameLst>
                                      </p:cBhvr>
                                      <p:tavLst>
                                        <p:tav tm="0">
                                          <p:val>
                                            <p:strVal val="#ppt_x"/>
                                          </p:val>
                                        </p:tav>
                                        <p:tav tm="100000">
                                          <p:val>
                                            <p:strVal val="#ppt_x"/>
                                          </p:val>
                                        </p:tav>
                                      </p:tavLst>
                                    </p:anim>
                                    <p:anim calcmode="lin" valueType="num">
                                      <p:cBhvr>
                                        <p:cTn id="15"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732" y="612843"/>
            <a:ext cx="11731557" cy="5743508"/>
          </a:xfrm>
        </p:spPr>
        <p:txBody>
          <a:bodyPr>
            <a:normAutofit lnSpcReduction="10000"/>
          </a:bodyPr>
          <a:lstStyle/>
          <a:p>
            <a:pPr>
              <a:lnSpc>
                <a:spcPct val="200000"/>
              </a:lnSpc>
            </a:pPr>
            <a:r>
              <a:rPr lang="en-US" sz="2000" b="1" dirty="0">
                <a:latin typeface="Times New Roman" panose="02020603050405020304" pitchFamily="18" charset="0"/>
                <a:cs typeface="Times New Roman" panose="02020603050405020304" pitchFamily="18" charset="0"/>
              </a:rPr>
              <a:t>Server</a:t>
            </a:r>
            <a:r>
              <a:rPr lang="en-US" sz="2000" dirty="0">
                <a:latin typeface="Times New Roman" panose="02020603050405020304" pitchFamily="18" charset="0"/>
                <a:cs typeface="Times New Roman" panose="02020603050405020304" pitchFamily="18" charset="0"/>
              </a:rPr>
              <a:t>: Servers are computers that runs operating system and hold data that can be shared over a computer network.</a:t>
            </a:r>
          </a:p>
          <a:p>
            <a:pPr>
              <a:lnSpc>
                <a:spcPct val="200000"/>
              </a:lnSpc>
            </a:pPr>
            <a:r>
              <a:rPr lang="en-US" sz="2000" b="1" dirty="0">
                <a:latin typeface="Times New Roman" panose="02020603050405020304" pitchFamily="18" charset="0"/>
                <a:cs typeface="Times New Roman" panose="02020603050405020304" pitchFamily="18" charset="0"/>
              </a:rPr>
              <a:t>Client</a:t>
            </a:r>
            <a:r>
              <a:rPr lang="en-US" sz="2000" dirty="0">
                <a:latin typeface="Times New Roman" panose="02020603050405020304" pitchFamily="18" charset="0"/>
                <a:cs typeface="Times New Roman" panose="02020603050405020304" pitchFamily="18" charset="0"/>
              </a:rPr>
              <a:t>: A client is a computer that is connected to other computers in the network and can receive data sent by other computers.</a:t>
            </a:r>
          </a:p>
          <a:p>
            <a:pPr>
              <a:lnSpc>
                <a:spcPct val="200000"/>
              </a:lnSpc>
            </a:pPr>
            <a:r>
              <a:rPr lang="en-US" sz="2000" b="1" dirty="0">
                <a:latin typeface="Times New Roman" panose="02020603050405020304" pitchFamily="18" charset="0"/>
                <a:cs typeface="Times New Roman" panose="02020603050405020304" pitchFamily="18" charset="0"/>
              </a:rPr>
              <a:t>Transmission Media</a:t>
            </a:r>
            <a:r>
              <a:rPr lang="en-US" sz="2000" dirty="0">
                <a:latin typeface="Times New Roman" panose="02020603050405020304" pitchFamily="18" charset="0"/>
                <a:cs typeface="Times New Roman" panose="02020603050405020304" pitchFamily="18" charset="0"/>
              </a:rPr>
              <a:t>: All computers in a network are connected with each other through a transmission media such as </a:t>
            </a:r>
            <a:r>
              <a:rPr lang="en-US" sz="2000" b="1" dirty="0">
                <a:latin typeface="Times New Roman" panose="02020603050405020304" pitchFamily="18" charset="0"/>
                <a:cs typeface="Times New Roman" panose="02020603050405020304" pitchFamily="18" charset="0"/>
              </a:rPr>
              <a:t>wires Rj45, Rj11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optical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fiber</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cables</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coaxial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cables</a:t>
            </a:r>
            <a:r>
              <a:rPr lang="en-US" sz="2000" dirty="0">
                <a:latin typeface="Times New Roman" panose="02020603050405020304" pitchFamily="18" charset="0"/>
                <a:cs typeface="Times New Roman" panose="02020603050405020304" pitchFamily="18" charset="0"/>
              </a:rPr>
              <a:t> etc.</a:t>
            </a:r>
          </a:p>
          <a:p>
            <a:pPr>
              <a:lnSpc>
                <a:spcPct val="200000"/>
              </a:lnSpc>
            </a:pPr>
            <a:r>
              <a:rPr lang="en-US" sz="2000" b="1" dirty="0">
                <a:latin typeface="Times New Roman" panose="02020603050405020304" pitchFamily="18" charset="0"/>
                <a:cs typeface="Times New Roman" panose="02020603050405020304" pitchFamily="18" charset="0"/>
              </a:rPr>
              <a:t>Network Interface card</a:t>
            </a:r>
            <a:r>
              <a:rPr lang="en-US" sz="2000" dirty="0">
                <a:latin typeface="Times New Roman" panose="02020603050405020304" pitchFamily="18" charset="0"/>
                <a:cs typeface="Times New Roman" panose="02020603050405020304" pitchFamily="18" charset="0"/>
              </a:rPr>
              <a:t>: Each system or computer in a network must have a card called network interface card (</a:t>
            </a:r>
            <a:r>
              <a:rPr lang="en-US" sz="2000" b="1" dirty="0">
                <a:latin typeface="Times New Roman" panose="02020603050405020304" pitchFamily="18" charset="0"/>
                <a:cs typeface="Times New Roman" panose="02020603050405020304" pitchFamily="18" charset="0"/>
              </a:rPr>
              <a:t>NIC</a:t>
            </a:r>
            <a:r>
              <a:rPr lang="en-US" sz="2000" dirty="0">
                <a:latin typeface="Times New Roman" panose="02020603050405020304" pitchFamily="18" charset="0"/>
                <a:cs typeface="Times New Roman" panose="02020603050405020304" pitchFamily="18" charset="0"/>
              </a:rPr>
              <a:t>). The main purpose of </a:t>
            </a:r>
            <a:r>
              <a:rPr lang="en-US" sz="2000" b="1" dirty="0">
                <a:latin typeface="Times New Roman" panose="02020603050405020304" pitchFamily="18" charset="0"/>
                <a:cs typeface="Times New Roman" panose="02020603050405020304" pitchFamily="18" charset="0"/>
              </a:rPr>
              <a:t>NIC</a:t>
            </a:r>
            <a:r>
              <a:rPr lang="en-US" sz="2000" dirty="0">
                <a:latin typeface="Times New Roman" panose="02020603050405020304" pitchFamily="18" charset="0"/>
                <a:cs typeface="Times New Roman" panose="02020603050405020304" pitchFamily="18" charset="0"/>
              </a:rPr>
              <a:t> is to format the data, send the data and receive the data at the receiving node.</a:t>
            </a:r>
          </a:p>
        </p:txBody>
      </p:sp>
      <p:sp>
        <p:nvSpPr>
          <p:cNvPr id="2" name="Slide Number Placeholder 1"/>
          <p:cNvSpPr>
            <a:spLocks noGrp="1"/>
          </p:cNvSpPr>
          <p:nvPr>
            <p:ph type="sldNum" sz="quarter" idx="12"/>
          </p:nvPr>
        </p:nvSpPr>
        <p:spPr/>
        <p:txBody>
          <a:bodyPr/>
          <a:lstStyle/>
          <a:p>
            <a:fld id="{9426EEF7-B005-4926-9DF9-6CB0296B93C6}" type="slidenum">
              <a:rPr lang="en-US" smtClean="0"/>
              <a:t>19</a:t>
            </a:fld>
            <a:endParaRPr lang="en-US"/>
          </a:p>
        </p:txBody>
      </p:sp>
    </p:spTree>
    <p:extLst>
      <p:ext uri="{BB962C8B-B14F-4D97-AF65-F5344CB8AC3E}">
        <p14:creationId xmlns:p14="http://schemas.microsoft.com/office/powerpoint/2010/main" val="36301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7745" y="359923"/>
            <a:ext cx="11274357" cy="6254886"/>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Hub</a:t>
            </a:r>
            <a:r>
              <a:rPr lang="en-US" sz="2000" dirty="0">
                <a:latin typeface="Times New Roman" panose="02020603050405020304" pitchFamily="18" charset="0"/>
                <a:cs typeface="Times New Roman" panose="02020603050405020304" pitchFamily="18" charset="0"/>
              </a:rPr>
              <a:t>: Hub acts as a device that connects all the computer in a network to each other. Any request that comes from a client computer first received by Hub and then hub transmit this request over a network so that the correct server receives and respond to it.</a:t>
            </a:r>
          </a:p>
          <a:p>
            <a:pPr>
              <a:lnSpc>
                <a:spcPct val="150000"/>
              </a:lnSpc>
            </a:pPr>
            <a:r>
              <a:rPr lang="en-US" sz="2000" b="1" dirty="0">
                <a:latin typeface="Times New Roman" panose="02020603050405020304" pitchFamily="18" charset="0"/>
                <a:cs typeface="Times New Roman" panose="02020603050405020304" pitchFamily="18" charset="0"/>
              </a:rPr>
              <a:t>Switch</a:t>
            </a:r>
            <a:r>
              <a:rPr lang="en-US" sz="2000" dirty="0">
                <a:latin typeface="Times New Roman" panose="02020603050405020304" pitchFamily="18" charset="0"/>
                <a:cs typeface="Times New Roman" panose="02020603050405020304" pitchFamily="18" charset="0"/>
              </a:rPr>
              <a:t>: Switch is similar to hub however instead of broadcasting a incoming data request it uses the physical device address in the incoming request to transfer the request to correct server computer.</a:t>
            </a:r>
          </a:p>
          <a:p>
            <a:pPr>
              <a:lnSpc>
                <a:spcPct val="150000"/>
              </a:lnSpc>
            </a:pPr>
            <a:r>
              <a:rPr lang="en-US" sz="2000" b="1" dirty="0">
                <a:latin typeface="Times New Roman" panose="02020603050405020304" pitchFamily="18" charset="0"/>
                <a:cs typeface="Times New Roman" panose="02020603050405020304" pitchFamily="18" charset="0"/>
              </a:rPr>
              <a:t>Router</a:t>
            </a:r>
            <a:r>
              <a:rPr lang="en-US" sz="2000" dirty="0">
                <a:latin typeface="Times New Roman" panose="02020603050405020304" pitchFamily="18" charset="0"/>
                <a:cs typeface="Times New Roman" panose="02020603050405020304" pitchFamily="18" charset="0"/>
              </a:rPr>
              <a:t>: Router joins multiple computer networks to each other. For example lets say a company runs </a:t>
            </a:r>
            <a:r>
              <a:rPr lang="en-US" sz="2000" b="1" dirty="0">
                <a:latin typeface="Times New Roman" panose="02020603050405020304" pitchFamily="18" charset="0"/>
                <a:cs typeface="Times New Roman" panose="02020603050405020304" pitchFamily="18" charset="0"/>
              </a:rPr>
              <a:t>100 computers</a:t>
            </a:r>
            <a:r>
              <a:rPr lang="en-US" sz="2000" dirty="0">
                <a:latin typeface="Times New Roman" panose="02020603050405020304" pitchFamily="18" charset="0"/>
                <a:cs typeface="Times New Roman" panose="02020603050405020304" pitchFamily="18" charset="0"/>
              </a:rPr>
              <a:t> over a local area network(</a:t>
            </a:r>
            <a:r>
              <a:rPr lang="en-US" sz="2000" b="1" dirty="0">
                <a:latin typeface="Times New Roman" panose="02020603050405020304" pitchFamily="18" charset="0"/>
                <a:cs typeface="Times New Roman" panose="02020603050405020304" pitchFamily="18" charset="0"/>
              </a:rPr>
              <a:t>LAN</a:t>
            </a:r>
            <a:r>
              <a:rPr lang="en-US" sz="2000" dirty="0">
                <a:latin typeface="Times New Roman" panose="02020603050405020304" pitchFamily="18" charset="0"/>
                <a:cs typeface="Times New Roman" panose="02020603050405020304" pitchFamily="18" charset="0"/>
              </a:rPr>
              <a:t>) and another company runs another LAN of </a:t>
            </a:r>
            <a:r>
              <a:rPr lang="en-US" sz="2000" b="1" dirty="0">
                <a:latin typeface="Times New Roman" panose="02020603050405020304" pitchFamily="18" charset="0"/>
                <a:cs typeface="Times New Roman" panose="02020603050405020304" pitchFamily="18" charset="0"/>
              </a:rPr>
              <a:t>150 computers</a:t>
            </a:r>
            <a:r>
              <a:rPr lang="en-US" sz="2000" dirty="0">
                <a:latin typeface="Times New Roman" panose="02020603050405020304" pitchFamily="18" charset="0"/>
                <a:cs typeface="Times New Roman" panose="02020603050405020304" pitchFamily="18" charset="0"/>
              </a:rPr>
              <a:t>. These both LANs can be connected with each other through a internet connection which is provided by the router.</a:t>
            </a:r>
          </a:p>
          <a:p>
            <a:pPr>
              <a:lnSpc>
                <a:spcPct val="150000"/>
              </a:lnSpc>
            </a:pPr>
            <a:r>
              <a:rPr lang="en-US" sz="2000" b="1" dirty="0">
                <a:latin typeface="Times New Roman" panose="02020603050405020304" pitchFamily="18" charset="0"/>
                <a:cs typeface="Times New Roman" panose="02020603050405020304" pitchFamily="18" charset="0"/>
              </a:rPr>
              <a:t>Cable</a:t>
            </a:r>
            <a:r>
              <a:rPr lang="en-US" sz="2000" dirty="0">
                <a:latin typeface="Times New Roman" panose="02020603050405020304" pitchFamily="18" charset="0"/>
                <a:cs typeface="Times New Roman" panose="02020603050405020304" pitchFamily="18" charset="0"/>
              </a:rPr>
              <a:t>: A wire that is used to connect more than one computers or other devices such as printers and scanner to each other.</a:t>
            </a:r>
          </a:p>
        </p:txBody>
      </p:sp>
      <p:sp>
        <p:nvSpPr>
          <p:cNvPr id="4" name="Slide Number Placeholder 3"/>
          <p:cNvSpPr>
            <a:spLocks noGrp="1"/>
          </p:cNvSpPr>
          <p:nvPr>
            <p:ph type="sldNum" sz="quarter" idx="12"/>
          </p:nvPr>
        </p:nvSpPr>
        <p:spPr/>
        <p:txBody>
          <a:bodyPr/>
          <a:lstStyle/>
          <a:p>
            <a:fld id="{9426EEF7-B005-4926-9DF9-6CB0296B93C6}" type="slidenum">
              <a:rPr lang="en-US" smtClean="0"/>
              <a:t>20</a:t>
            </a:fld>
            <a:endParaRPr lang="en-US"/>
          </a:p>
        </p:txBody>
      </p:sp>
    </p:spTree>
    <p:extLst>
      <p:ext uri="{BB962C8B-B14F-4D97-AF65-F5344CB8AC3E}">
        <p14:creationId xmlns:p14="http://schemas.microsoft.com/office/powerpoint/2010/main" val="2734798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564" y="734581"/>
            <a:ext cx="10515600" cy="1029566"/>
          </a:xfrm>
        </p:spPr>
        <p:txBody>
          <a:bodyPr>
            <a:normAutofit/>
          </a:bodyPr>
          <a:lstStyle/>
          <a:p>
            <a:pPr algn="ctr"/>
            <a:r>
              <a:rPr lang="en-US" sz="2800" b="1" dirty="0">
                <a:latin typeface="Arial Black" panose="020B0A04020102020204" pitchFamily="34" charset="0"/>
                <a:cs typeface="Times New Roman" panose="02020603050405020304" pitchFamily="18" charset="0"/>
              </a:rPr>
              <a:t>Server</a:t>
            </a:r>
            <a:endParaRPr lang="en-US" sz="2800" dirty="0">
              <a:latin typeface="Arial Black" panose="020B0A04020102020204" pitchFamily="34" charset="0"/>
            </a:endParaRPr>
          </a:p>
        </p:txBody>
      </p:sp>
      <p:pic>
        <p:nvPicPr>
          <p:cNvPr id="3074" name="Picture 2" descr="Network Server: Definitions, Types and Features Explained | FS Communit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5163" y="3971673"/>
            <a:ext cx="5774298" cy="27028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hat is a server? Pros, cons and comparisons - RackSoluti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46110" y="3531176"/>
            <a:ext cx="4073235" cy="22911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65163" y="2201428"/>
            <a:ext cx="10427710"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Server</a:t>
            </a:r>
            <a:r>
              <a:rPr lang="en-US" dirty="0">
                <a:latin typeface="Times New Roman" panose="02020603050405020304" pitchFamily="18" charset="0"/>
                <a:cs typeface="Times New Roman" panose="02020603050405020304" pitchFamily="18" charset="0"/>
              </a:rPr>
              <a:t>: Servers are computers that runs operating system and hold data that can be shared over a computer network.</a:t>
            </a:r>
          </a:p>
        </p:txBody>
      </p:sp>
      <p:sp>
        <p:nvSpPr>
          <p:cNvPr id="3" name="Slide Number Placeholder 2"/>
          <p:cNvSpPr>
            <a:spLocks noGrp="1"/>
          </p:cNvSpPr>
          <p:nvPr>
            <p:ph type="sldNum" sz="quarter" idx="12"/>
          </p:nvPr>
        </p:nvSpPr>
        <p:spPr/>
        <p:txBody>
          <a:bodyPr/>
          <a:lstStyle/>
          <a:p>
            <a:fld id="{9426EEF7-B005-4926-9DF9-6CB0296B93C6}" type="slidenum">
              <a:rPr lang="en-US" smtClean="0"/>
              <a:t>21</a:t>
            </a:fld>
            <a:endParaRPr lang="en-US"/>
          </a:p>
        </p:txBody>
      </p:sp>
    </p:spTree>
    <p:extLst>
      <p:ext uri="{BB962C8B-B14F-4D97-AF65-F5344CB8AC3E}">
        <p14:creationId xmlns:p14="http://schemas.microsoft.com/office/powerpoint/2010/main" val="795264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23743"/>
            <a:ext cx="10515600" cy="863311"/>
          </a:xfrm>
        </p:spPr>
        <p:txBody>
          <a:bodyPr>
            <a:normAutofit/>
          </a:bodyPr>
          <a:lstStyle/>
          <a:p>
            <a:pPr algn="ctr"/>
            <a:r>
              <a:rPr lang="en-US" sz="3200" b="1" dirty="0">
                <a:latin typeface="Arial Black" panose="020B0A04020102020204" pitchFamily="34" charset="0"/>
                <a:cs typeface="Times New Roman" panose="02020603050405020304" pitchFamily="18" charset="0"/>
              </a:rPr>
              <a:t>Client</a:t>
            </a:r>
            <a:endParaRPr lang="en-US" sz="3200" dirty="0">
              <a:latin typeface="Arial Black" panose="020B0A04020102020204" pitchFamily="34" charset="0"/>
            </a:endParaRPr>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Client</a:t>
            </a:r>
            <a:r>
              <a:rPr lang="en-US" dirty="0">
                <a:latin typeface="Times New Roman" panose="02020603050405020304" pitchFamily="18" charset="0"/>
                <a:cs typeface="Times New Roman" panose="02020603050405020304" pitchFamily="18" charset="0"/>
              </a:rPr>
              <a:t>: A client is a computer that is connected to other computers in the network and can receive data sent by other computers.</a:t>
            </a:r>
          </a:p>
          <a:p>
            <a:endParaRPr lang="en-US" dirty="0"/>
          </a:p>
        </p:txBody>
      </p:sp>
      <p:pic>
        <p:nvPicPr>
          <p:cNvPr id="4098" name="Picture 2" descr="Client–server model - Wikip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3273" y="2777404"/>
            <a:ext cx="5541817" cy="332509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9426EEF7-B005-4926-9DF9-6CB0296B93C6}" type="slidenum">
              <a:rPr lang="en-US" smtClean="0"/>
              <a:t>22</a:t>
            </a:fld>
            <a:endParaRPr lang="en-US"/>
          </a:p>
        </p:txBody>
      </p:sp>
    </p:spTree>
    <p:extLst>
      <p:ext uri="{BB962C8B-B14F-4D97-AF65-F5344CB8AC3E}">
        <p14:creationId xmlns:p14="http://schemas.microsoft.com/office/powerpoint/2010/main" val="40329866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9162"/>
            <a:ext cx="10515600" cy="734002"/>
          </a:xfrm>
        </p:spPr>
        <p:txBody>
          <a:bodyPr>
            <a:normAutofit/>
          </a:bodyPr>
          <a:lstStyle/>
          <a:p>
            <a:pPr algn="ctr"/>
            <a:r>
              <a:rPr lang="en-US" sz="3200" b="1" dirty="0">
                <a:latin typeface="Arial Black" panose="020B0A04020102020204" pitchFamily="34" charset="0"/>
                <a:cs typeface="Times New Roman" panose="02020603050405020304" pitchFamily="18" charset="0"/>
              </a:rPr>
              <a:t>Transmission Media</a:t>
            </a:r>
            <a:endParaRPr lang="en-US" sz="3200" dirty="0">
              <a:latin typeface="Arial Black" panose="020B0A04020102020204" pitchFamily="34" charset="0"/>
            </a:endParaRPr>
          </a:p>
        </p:txBody>
      </p:sp>
      <p:sp>
        <p:nvSpPr>
          <p:cNvPr id="3" name="Content Placeholder 2"/>
          <p:cNvSpPr>
            <a:spLocks noGrp="1"/>
          </p:cNvSpPr>
          <p:nvPr>
            <p:ph idx="1"/>
          </p:nvPr>
        </p:nvSpPr>
        <p:spPr>
          <a:xfrm>
            <a:off x="838200" y="1825625"/>
            <a:ext cx="10515600" cy="4251902"/>
          </a:xfrm>
        </p:spPr>
        <p:txBody>
          <a:bodyPr/>
          <a:lstStyle/>
          <a:p>
            <a:r>
              <a:rPr lang="en-US" b="1" dirty="0">
                <a:latin typeface="Times New Roman" panose="02020603050405020304" pitchFamily="18" charset="0"/>
                <a:cs typeface="Times New Roman" panose="02020603050405020304" pitchFamily="18" charset="0"/>
              </a:rPr>
              <a:t>Transmission Media</a:t>
            </a: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All computers in a network are connected with each other through a transmission media such as </a:t>
            </a:r>
            <a:r>
              <a:rPr lang="en-US" sz="2400" b="1" dirty="0">
                <a:latin typeface="Times New Roman" panose="02020603050405020304" pitchFamily="18" charset="0"/>
                <a:cs typeface="Times New Roman" panose="02020603050405020304" pitchFamily="18" charset="0"/>
              </a:rPr>
              <a:t>wires Rj45, Rj11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optical</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fiber</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cables</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coaxial</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cables</a:t>
            </a:r>
            <a:r>
              <a:rPr lang="en-US" sz="2400" dirty="0">
                <a:latin typeface="Times New Roman" panose="02020603050405020304" pitchFamily="18" charset="0"/>
                <a:cs typeface="Times New Roman" panose="02020603050405020304" pitchFamily="18" charset="0"/>
              </a:rPr>
              <a:t> etc.</a:t>
            </a:r>
          </a:p>
          <a:p>
            <a:endParaRPr lang="en-US" dirty="0"/>
          </a:p>
        </p:txBody>
      </p:sp>
      <p:pic>
        <p:nvPicPr>
          <p:cNvPr id="7" name="Picture 6"/>
          <p:cNvPicPr>
            <a:picLocks noChangeAspect="1"/>
          </p:cNvPicPr>
          <p:nvPr/>
        </p:nvPicPr>
        <p:blipFill>
          <a:blip r:embed="rId2"/>
          <a:stretch>
            <a:fillRect/>
          </a:stretch>
        </p:blipFill>
        <p:spPr>
          <a:xfrm>
            <a:off x="912091" y="3943576"/>
            <a:ext cx="4042682" cy="2133951"/>
          </a:xfrm>
          <a:prstGeom prst="rect">
            <a:avLst/>
          </a:prstGeom>
        </p:spPr>
      </p:pic>
      <p:pic>
        <p:nvPicPr>
          <p:cNvPr id="5128" name="Picture 8" descr="Fiber Optic Cable Types – Multimode and Single Mode - RF Industrie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77161" y="4183722"/>
            <a:ext cx="2950716" cy="1782969"/>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Different Types of Coaxial Cables and Their Uses | MILCOM"/>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0265" y="3952461"/>
            <a:ext cx="2559916" cy="167686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283855" y="3315854"/>
            <a:ext cx="2817091" cy="3325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RJ45 and RJ11</a:t>
            </a:r>
          </a:p>
        </p:txBody>
      </p:sp>
      <p:sp>
        <p:nvSpPr>
          <p:cNvPr id="11" name="Rectangle 10"/>
          <p:cNvSpPr/>
          <p:nvPr/>
        </p:nvSpPr>
        <p:spPr>
          <a:xfrm>
            <a:off x="8890000" y="3435927"/>
            <a:ext cx="2817091" cy="3325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Coaxial Cables</a:t>
            </a:r>
          </a:p>
        </p:txBody>
      </p:sp>
      <p:sp>
        <p:nvSpPr>
          <p:cNvPr id="12" name="Rectangle 11"/>
          <p:cNvSpPr/>
          <p:nvPr/>
        </p:nvSpPr>
        <p:spPr>
          <a:xfrm>
            <a:off x="5246254" y="3482109"/>
            <a:ext cx="2817091" cy="3325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ysClr val="windowText" lastClr="000000"/>
                </a:solidFill>
              </a:rPr>
              <a:t>Optical Fiber</a:t>
            </a:r>
          </a:p>
        </p:txBody>
      </p:sp>
      <p:sp>
        <p:nvSpPr>
          <p:cNvPr id="4" name="Slide Number Placeholder 3"/>
          <p:cNvSpPr>
            <a:spLocks noGrp="1"/>
          </p:cNvSpPr>
          <p:nvPr>
            <p:ph type="sldNum" sz="quarter" idx="12"/>
          </p:nvPr>
        </p:nvSpPr>
        <p:spPr/>
        <p:txBody>
          <a:bodyPr/>
          <a:lstStyle/>
          <a:p>
            <a:fld id="{9426EEF7-B005-4926-9DF9-6CB0296B93C6}" type="slidenum">
              <a:rPr lang="en-US" smtClean="0"/>
              <a:t>23</a:t>
            </a:fld>
            <a:endParaRPr lang="en-US"/>
          </a:p>
        </p:txBody>
      </p:sp>
    </p:spTree>
    <p:extLst>
      <p:ext uri="{BB962C8B-B14F-4D97-AF65-F5344CB8AC3E}">
        <p14:creationId xmlns:p14="http://schemas.microsoft.com/office/powerpoint/2010/main" val="2883503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3"/>
            <a:ext cx="10515600" cy="1111620"/>
          </a:xfrm>
        </p:spPr>
        <p:txBody>
          <a:bodyPr>
            <a:noAutofit/>
          </a:bodyPr>
          <a:lstStyle/>
          <a:p>
            <a:pPr algn="ctr"/>
            <a:r>
              <a:rPr lang="en-US" sz="2800" dirty="0">
                <a:latin typeface="Arial Black" panose="020B0A04020102020204" pitchFamily="34" charset="0"/>
                <a:cs typeface="Times New Roman" panose="02020603050405020304" pitchFamily="18" charset="0"/>
              </a:rPr>
              <a:t>Classified </a:t>
            </a:r>
            <a:r>
              <a:rPr lang="en-US" sz="2800" b="1" dirty="0">
                <a:latin typeface="Arial Black" panose="020B0A04020102020204" pitchFamily="34" charset="0"/>
                <a:cs typeface="Times New Roman" panose="02020603050405020304" pitchFamily="18" charset="0"/>
              </a:rPr>
              <a:t>Network.</a:t>
            </a:r>
          </a:p>
        </p:txBody>
      </p:sp>
      <p:sp>
        <p:nvSpPr>
          <p:cNvPr id="3" name="Content Placeholder 2"/>
          <p:cNvSpPr>
            <a:spLocks noGrp="1"/>
          </p:cNvSpPr>
          <p:nvPr>
            <p:ph idx="1"/>
          </p:nvPr>
        </p:nvSpPr>
        <p:spPr>
          <a:xfrm>
            <a:off x="799578" y="2238984"/>
            <a:ext cx="10515600" cy="4351338"/>
          </a:xfrm>
        </p:spPr>
        <p:txBody>
          <a:bodyPr>
            <a:normAutofit/>
          </a:bodyPr>
          <a:lstStyle/>
          <a:p>
            <a:pPr marL="0" indent="0">
              <a:buNone/>
            </a:pPr>
            <a:endParaRPr lang="en-US" dirty="0"/>
          </a:p>
          <a:p>
            <a:pPr marL="0" indent="0">
              <a:buNone/>
            </a:pPr>
            <a:endParaRPr lang="en-US" dirty="0"/>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Networks can be classified into various categories, including the following: </a:t>
            </a:r>
          </a:p>
          <a:p>
            <a:pPr marL="0" indent="0">
              <a:buNone/>
            </a:pPr>
            <a:r>
              <a:rPr lang="en-US" sz="2000" dirty="0">
                <a:latin typeface="Times New Roman" panose="02020603050405020304" pitchFamily="18" charset="0"/>
                <a:cs typeface="Times New Roman" panose="02020603050405020304" pitchFamily="18" charset="0"/>
              </a:rPr>
              <a:t>■ Local-area network (</a:t>
            </a:r>
            <a:r>
              <a:rPr lang="en-US" sz="2000" b="1" dirty="0">
                <a:latin typeface="Times New Roman" panose="02020603050405020304" pitchFamily="18" charset="0"/>
                <a:cs typeface="Times New Roman" panose="02020603050405020304" pitchFamily="18" charset="0"/>
              </a:rPr>
              <a:t>LAN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Wide-area network (</a:t>
            </a:r>
            <a:r>
              <a:rPr lang="en-US" sz="2000" b="1" dirty="0">
                <a:latin typeface="Times New Roman" panose="02020603050405020304" pitchFamily="18" charset="0"/>
                <a:cs typeface="Times New Roman" panose="02020603050405020304" pitchFamily="18" charset="0"/>
              </a:rPr>
              <a:t>WAN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Metropolitan-area network (</a:t>
            </a:r>
            <a:r>
              <a:rPr lang="en-US" sz="2000" b="1" dirty="0">
                <a:latin typeface="Times New Roman" panose="02020603050405020304" pitchFamily="18" charset="0"/>
                <a:cs typeface="Times New Roman" panose="02020603050405020304" pitchFamily="18" charset="0"/>
              </a:rPr>
              <a:t>MAN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Personal-area network (</a:t>
            </a:r>
            <a:r>
              <a:rPr lang="en-US" sz="2000" b="1" dirty="0">
                <a:latin typeface="Times New Roman" panose="02020603050405020304" pitchFamily="18" charset="0"/>
                <a:cs typeface="Times New Roman" panose="02020603050405020304" pitchFamily="18" charset="0"/>
              </a:rPr>
              <a:t>PAN</a:t>
            </a:r>
            <a:r>
              <a:rPr lang="en-US" sz="2000" dirty="0">
                <a:latin typeface="Times New Roman" panose="02020603050405020304" pitchFamily="18" charset="0"/>
                <a:cs typeface="Times New Roman" panose="02020603050405020304" pitchFamily="18" charset="0"/>
              </a:rPr>
              <a:t>) </a:t>
            </a:r>
          </a:p>
          <a:p>
            <a:pPr marL="0" indent="0">
              <a:buNone/>
            </a:pPr>
            <a:r>
              <a:rPr lang="en-US" sz="2000" dirty="0">
                <a:latin typeface="Times New Roman" panose="02020603050405020304" pitchFamily="18" charset="0"/>
                <a:cs typeface="Times New Roman" panose="02020603050405020304" pitchFamily="18" charset="0"/>
              </a:rPr>
              <a:t>■ Campus-area network (</a:t>
            </a:r>
            <a:r>
              <a:rPr lang="en-US" sz="2000" b="1" dirty="0">
                <a:latin typeface="Times New Roman" panose="02020603050405020304" pitchFamily="18" charset="0"/>
                <a:cs typeface="Times New Roman" panose="02020603050405020304" pitchFamily="18" charset="0"/>
              </a:rPr>
              <a:t>CAN</a:t>
            </a:r>
            <a:r>
              <a:rPr lang="en-US" sz="2000" dirty="0">
                <a:latin typeface="Times New Roman" panose="02020603050405020304" pitchFamily="18" charset="0"/>
                <a:cs typeface="Times New Roman" panose="02020603050405020304" pitchFamily="18" charset="0"/>
              </a:rPr>
              <a:t>)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6574" y="1611682"/>
            <a:ext cx="5482290" cy="2110636"/>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24</a:t>
            </a:fld>
            <a:endParaRPr lang="en-US"/>
          </a:p>
        </p:txBody>
      </p:sp>
    </p:spTree>
    <p:extLst>
      <p:ext uri="{BB962C8B-B14F-4D97-AF65-F5344CB8AC3E}">
        <p14:creationId xmlns:p14="http://schemas.microsoft.com/office/powerpoint/2010/main" val="32295745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 y="1"/>
            <a:ext cx="10515600" cy="1002082"/>
          </a:xfrm>
        </p:spPr>
        <p:txBody>
          <a:bodyPr>
            <a:normAutofit/>
          </a:bodyPr>
          <a:lstStyle/>
          <a:p>
            <a:pPr algn="ctr"/>
            <a:r>
              <a:rPr lang="en-US" sz="2800" b="1" dirty="0">
                <a:latin typeface="Arial Black" panose="020B0A04020102020204" pitchFamily="34" charset="0"/>
                <a:cs typeface="Times New Roman" panose="02020603050405020304" pitchFamily="18" charset="0"/>
              </a:rPr>
              <a:t>Local-area network (LAN) </a:t>
            </a:r>
          </a:p>
        </p:txBody>
      </p:sp>
      <p:sp>
        <p:nvSpPr>
          <p:cNvPr id="3" name="Content Placeholder 2"/>
          <p:cNvSpPr>
            <a:spLocks noGrp="1"/>
          </p:cNvSpPr>
          <p:nvPr>
            <p:ph idx="1"/>
          </p:nvPr>
        </p:nvSpPr>
        <p:spPr>
          <a:xfrm>
            <a:off x="24008" y="1002082"/>
            <a:ext cx="11329792" cy="5174881"/>
          </a:xfrm>
        </p:spPr>
        <p:txBody>
          <a:bodyPr>
            <a:normAutofit/>
          </a:bodyPr>
          <a:lstStyle/>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Local area network is a group of computers connected with each other in a small places such as school, hospital, apartment etc.</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LAN is secure because there is no outside connection with the local area network thus the data which is shared is safe on the local area network and can’t be accessed outside.</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LAN due to their small size are considerably faster, their speed can range anywhere from </a:t>
            </a:r>
            <a:r>
              <a:rPr lang="en-US" sz="2400" b="1" dirty="0">
                <a:latin typeface="Times New Roman" panose="02020603050405020304" pitchFamily="18" charset="0"/>
                <a:cs typeface="Times New Roman" panose="02020603050405020304" pitchFamily="18" charset="0"/>
              </a:rPr>
              <a:t>100 to 100Mbps</a:t>
            </a:r>
            <a:r>
              <a:rPr lang="en-US" sz="24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LANs are not limited to wire connection, there is a new evolution to the LANs that allows local area network to work on a wireless connection.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7402" y="4081549"/>
            <a:ext cx="5730136" cy="2226697"/>
          </a:xfrm>
          <a:prstGeom prst="rect">
            <a:avLst/>
          </a:prstGeom>
        </p:spPr>
      </p:pic>
      <p:sp>
        <p:nvSpPr>
          <p:cNvPr id="4" name="Slide Number Placeholder 3"/>
          <p:cNvSpPr>
            <a:spLocks noGrp="1"/>
          </p:cNvSpPr>
          <p:nvPr>
            <p:ph type="sldNum" sz="quarter" idx="12"/>
          </p:nvPr>
        </p:nvSpPr>
        <p:spPr/>
        <p:txBody>
          <a:bodyPr/>
          <a:lstStyle/>
          <a:p>
            <a:fld id="{9426EEF7-B005-4926-9DF9-6CB0296B93C6}" type="slidenum">
              <a:rPr lang="en-US" smtClean="0"/>
              <a:t>25</a:t>
            </a:fld>
            <a:endParaRPr lang="en-US"/>
          </a:p>
        </p:txBody>
      </p:sp>
    </p:spTree>
    <p:extLst>
      <p:ext uri="{BB962C8B-B14F-4D97-AF65-F5344CB8AC3E}">
        <p14:creationId xmlns:p14="http://schemas.microsoft.com/office/powerpoint/2010/main" val="2345677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075090" cy="6858000"/>
          </a:xfrm>
        </p:spPr>
        <p:txBody>
          <a:bodyPr>
            <a:normAutofit/>
          </a:bodyPr>
          <a:lstStyle/>
          <a:p>
            <a:pPr marL="0" indent="0" algn="ctr">
              <a:lnSpc>
                <a:spcPct val="120000"/>
              </a:lnSpc>
              <a:buNone/>
            </a:pPr>
            <a:r>
              <a:rPr lang="en-US" b="1" dirty="0">
                <a:latin typeface="Arial Black" panose="020B0A04020102020204" pitchFamily="34" charset="0"/>
                <a:cs typeface="Times New Roman" panose="02020603050405020304" pitchFamily="18" charset="0"/>
              </a:rPr>
              <a:t>Advantages of LAN</a:t>
            </a:r>
          </a:p>
          <a:p>
            <a:pPr>
              <a:lnSpc>
                <a:spcPct val="120000"/>
              </a:lnSpc>
            </a:pPr>
            <a:r>
              <a:rPr lang="en-US" sz="2600" b="1" dirty="0">
                <a:latin typeface="Times New Roman" panose="02020603050405020304" pitchFamily="18" charset="0"/>
                <a:cs typeface="Times New Roman" panose="02020603050405020304" pitchFamily="18" charset="0"/>
              </a:rPr>
              <a:t>Resource Sharing:</a:t>
            </a:r>
            <a:r>
              <a:rPr lang="en-US" sz="2600" dirty="0">
                <a:latin typeface="Times New Roman" panose="02020603050405020304" pitchFamily="18" charset="0"/>
                <a:cs typeface="Times New Roman" panose="02020603050405020304" pitchFamily="18" charset="0"/>
              </a:rPr>
              <a:t> LAN provides resource sharing such as computer resources like printers, scanners, modems, DVD-ROM drives, and hard disks can be shared within the connected devices. This reduces cost and hardware purchases.</a:t>
            </a:r>
          </a:p>
          <a:p>
            <a:pPr>
              <a:lnSpc>
                <a:spcPct val="120000"/>
              </a:lnSpc>
            </a:pPr>
            <a:r>
              <a:rPr lang="en-US" sz="2600" b="1" dirty="0">
                <a:latin typeface="Times New Roman" panose="02020603050405020304" pitchFamily="18" charset="0"/>
                <a:cs typeface="Times New Roman" panose="02020603050405020304" pitchFamily="18" charset="0"/>
              </a:rPr>
              <a:t>Software Applications Sharing:</a:t>
            </a:r>
            <a:r>
              <a:rPr lang="en-US" sz="2600" dirty="0">
                <a:latin typeface="Times New Roman" panose="02020603050405020304" pitchFamily="18" charset="0"/>
                <a:cs typeface="Times New Roman" panose="02020603050405020304" pitchFamily="18" charset="0"/>
              </a:rPr>
              <a:t> In a Local Area Network, it is easy to use the same software in a number of computers connected to a network instead of purchasing the separately licensed software for each client a network.</a:t>
            </a:r>
          </a:p>
          <a:p>
            <a:pPr>
              <a:lnSpc>
                <a:spcPct val="120000"/>
              </a:lnSpc>
            </a:pPr>
            <a:r>
              <a:rPr lang="en-US" sz="2600" b="1" dirty="0">
                <a:latin typeface="Times New Roman" panose="02020603050405020304" pitchFamily="18" charset="0"/>
                <a:cs typeface="Times New Roman" panose="02020603050405020304" pitchFamily="18" charset="0"/>
              </a:rPr>
              <a:t>Easy and Cheap Communication:</a:t>
            </a:r>
            <a:r>
              <a:rPr lang="en-US" sz="2600" dirty="0">
                <a:latin typeface="Times New Roman" panose="02020603050405020304" pitchFamily="18" charset="0"/>
                <a:cs typeface="Times New Roman" panose="02020603050405020304" pitchFamily="18" charset="0"/>
              </a:rPr>
              <a:t> Data and messages can easily be shared with the other computer connected to the network.</a:t>
            </a:r>
          </a:p>
          <a:p>
            <a:pPr>
              <a:lnSpc>
                <a:spcPct val="120000"/>
              </a:lnSpc>
            </a:pPr>
            <a:r>
              <a:rPr lang="en-US" sz="2600" b="1" dirty="0">
                <a:latin typeface="Times New Roman" panose="02020603050405020304" pitchFamily="18" charset="0"/>
                <a:cs typeface="Times New Roman" panose="02020603050405020304" pitchFamily="18" charset="0"/>
              </a:rPr>
              <a:t>Centralized Data:</a:t>
            </a:r>
            <a:r>
              <a:rPr lang="en-US" sz="2600" dirty="0">
                <a:latin typeface="Times New Roman" panose="02020603050405020304" pitchFamily="18" charset="0"/>
                <a:cs typeface="Times New Roman" panose="02020603050405020304" pitchFamily="18" charset="0"/>
              </a:rPr>
              <a:t> The data of all network users can be stored on a hard disk of the central/server computer. This help users to use any computer in a network to access the required data.</a:t>
            </a:r>
          </a:p>
          <a:p>
            <a:pPr>
              <a:lnSpc>
                <a:spcPct val="120000"/>
              </a:lnSpc>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26</a:t>
            </a:fld>
            <a:endParaRPr lang="en-US"/>
          </a:p>
        </p:txBody>
      </p:sp>
    </p:spTree>
    <p:extLst>
      <p:ext uri="{BB962C8B-B14F-4D97-AF65-F5344CB8AC3E}">
        <p14:creationId xmlns:p14="http://schemas.microsoft.com/office/powerpoint/2010/main" val="3729640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51998"/>
          </a:xfrm>
        </p:spPr>
        <p:txBody>
          <a:bodyPr>
            <a:normAutofit fontScale="90000"/>
          </a:bodyPr>
          <a:lstStyle/>
          <a:p>
            <a:pPr algn="ctr"/>
            <a:r>
              <a:rPr lang="en-US" sz="2800" b="1" dirty="0">
                <a:latin typeface="Arial Black" panose="020B0A04020102020204" pitchFamily="34" charset="0"/>
                <a:cs typeface="Times New Roman" panose="02020603050405020304" pitchFamily="18" charset="0"/>
              </a:rPr>
              <a:t>Disadvantages of LAN</a:t>
            </a:r>
            <a:endParaRPr lang="en-US" dirty="0"/>
          </a:p>
        </p:txBody>
      </p:sp>
      <p:sp>
        <p:nvSpPr>
          <p:cNvPr id="3" name="Content Placeholder 2"/>
          <p:cNvSpPr>
            <a:spLocks noGrp="1"/>
          </p:cNvSpPr>
          <p:nvPr>
            <p:ph idx="1"/>
          </p:nvPr>
        </p:nvSpPr>
        <p:spPr>
          <a:xfrm>
            <a:off x="457200" y="992222"/>
            <a:ext cx="11171381" cy="5510178"/>
          </a:xfrm>
        </p:spPr>
        <p:txBody>
          <a:bodyPr>
            <a:normAutofit fontScale="85000" lnSpcReduction="10000"/>
          </a:bodyPr>
          <a:lstStyle/>
          <a:p>
            <a:pPr>
              <a:lnSpc>
                <a:spcPct val="120000"/>
              </a:lnSpc>
            </a:pPr>
            <a:r>
              <a:rPr lang="en-US" b="1" dirty="0">
                <a:latin typeface="Times New Roman" panose="02020603050405020304" pitchFamily="18" charset="0"/>
                <a:cs typeface="Times New Roman" panose="02020603050405020304" pitchFamily="18" charset="0"/>
              </a:rPr>
              <a:t>High Setup Cost:</a:t>
            </a:r>
            <a:r>
              <a:rPr lang="en-US" dirty="0">
                <a:latin typeface="Times New Roman" panose="02020603050405020304" pitchFamily="18" charset="0"/>
                <a:cs typeface="Times New Roman" panose="02020603050405020304" pitchFamily="18" charset="0"/>
              </a:rPr>
              <a:t> The initial setup costs of installing Local Area Networks is high because there is special software required to make a server. Also, communication devices like an </a:t>
            </a:r>
            <a:r>
              <a:rPr lang="en-US" b="1" dirty="0">
                <a:latin typeface="Times New Roman" panose="02020603050405020304" pitchFamily="18" charset="0"/>
                <a:cs typeface="Times New Roman" panose="02020603050405020304" pitchFamily="18" charset="0"/>
              </a:rPr>
              <a:t>Ethernet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cable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switches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hubs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routers</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cables</a:t>
            </a:r>
            <a:r>
              <a:rPr lang="en-US" dirty="0">
                <a:latin typeface="Times New Roman" panose="02020603050405020304" pitchFamily="18" charset="0"/>
                <a:cs typeface="Times New Roman" panose="02020603050405020304" pitchFamily="18" charset="0"/>
              </a:rPr>
              <a:t> are costly.</a:t>
            </a:r>
          </a:p>
          <a:p>
            <a:pPr>
              <a:lnSpc>
                <a:spcPct val="120000"/>
              </a:lnSpc>
            </a:pPr>
            <a:r>
              <a:rPr lang="en-US" b="1" dirty="0">
                <a:latin typeface="Times New Roman" panose="02020603050405020304" pitchFamily="18" charset="0"/>
                <a:cs typeface="Times New Roman" panose="02020603050405020304" pitchFamily="18" charset="0"/>
              </a:rPr>
              <a:t>Privacy Violations:</a:t>
            </a:r>
            <a:r>
              <a:rPr lang="en-US" dirty="0">
                <a:latin typeface="Times New Roman" panose="02020603050405020304" pitchFamily="18" charset="0"/>
                <a:cs typeface="Times New Roman" panose="02020603050405020304" pitchFamily="18" charset="0"/>
              </a:rPr>
              <a:t> The LAN administrator can see and check personal data files of each and every LAN user. More over, he can view the computer and internet history of the LAN user.</a:t>
            </a:r>
          </a:p>
          <a:p>
            <a:pPr>
              <a:lnSpc>
                <a:spcPct val="120000"/>
              </a:lnSpc>
            </a:pPr>
            <a:r>
              <a:rPr lang="en-US" b="1" dirty="0">
                <a:latin typeface="Times New Roman" panose="02020603050405020304" pitchFamily="18" charset="0"/>
                <a:cs typeface="Times New Roman" panose="02020603050405020304" pitchFamily="18" charset="0"/>
              </a:rPr>
              <a:t>LAN Maintenance Job:</a:t>
            </a:r>
            <a:r>
              <a:rPr lang="en-US" dirty="0">
                <a:latin typeface="Times New Roman" panose="02020603050405020304" pitchFamily="18" charset="0"/>
                <a:cs typeface="Times New Roman" panose="02020603050405020304" pitchFamily="18" charset="0"/>
              </a:rPr>
              <a:t> Local Area Network requires a LAN Administrator because there are problems such as software installations, program faults or hardware failures or cable disturbances in Local Area Network. A LAN Administrator is required to maintain these issues.</a:t>
            </a:r>
          </a:p>
          <a:p>
            <a:pPr>
              <a:lnSpc>
                <a:spcPct val="120000"/>
              </a:lnSpc>
            </a:pPr>
            <a:r>
              <a:rPr lang="en-US" b="1" dirty="0">
                <a:latin typeface="Times New Roman" panose="02020603050405020304" pitchFamily="18" charset="0"/>
                <a:cs typeface="Times New Roman" panose="02020603050405020304" pitchFamily="18" charset="0"/>
              </a:rPr>
              <a:t>Covers Limited Area:</a:t>
            </a:r>
            <a:r>
              <a:rPr lang="en-US" dirty="0">
                <a:latin typeface="Times New Roman" panose="02020603050405020304" pitchFamily="18" charset="0"/>
                <a:cs typeface="Times New Roman" panose="02020603050405020304" pitchFamily="18" charset="0"/>
              </a:rPr>
              <a:t> LANs are restricted in size they cover a small area like a single office, single building or a group of nearby buildings.</a:t>
            </a:r>
          </a:p>
          <a:p>
            <a:pPr>
              <a:lnSpc>
                <a:spcPct val="120000"/>
              </a:lnSpc>
            </a:pPr>
            <a:endParaRPr lang="en-US"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2"/>
          </p:nvPr>
        </p:nvSpPr>
        <p:spPr/>
        <p:txBody>
          <a:bodyPr/>
          <a:lstStyle/>
          <a:p>
            <a:fld id="{9426EEF7-B005-4926-9DF9-6CB0296B93C6}" type="slidenum">
              <a:rPr lang="en-US" smtClean="0"/>
              <a:t>27</a:t>
            </a:fld>
            <a:endParaRPr lang="en-US"/>
          </a:p>
        </p:txBody>
      </p:sp>
    </p:spTree>
    <p:extLst>
      <p:ext uri="{BB962C8B-B14F-4D97-AF65-F5344CB8AC3E}">
        <p14:creationId xmlns:p14="http://schemas.microsoft.com/office/powerpoint/2010/main" val="4233577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latin typeface="Arial Black" panose="020B0A04020102020204" pitchFamily="34" charset="0"/>
                <a:cs typeface="Times New Roman" panose="02020603050405020304" pitchFamily="18" charset="0"/>
              </a:rPr>
              <a:t>Wide-area network (WAN)</a:t>
            </a:r>
          </a:p>
        </p:txBody>
      </p:sp>
      <p:sp>
        <p:nvSpPr>
          <p:cNvPr id="3" name="Content Placeholder 2"/>
          <p:cNvSpPr>
            <a:spLocks noGrp="1"/>
          </p:cNvSpPr>
          <p:nvPr>
            <p:ph idx="1"/>
          </p:nvPr>
        </p:nvSpPr>
        <p:spPr>
          <a:xfrm>
            <a:off x="838200" y="1406525"/>
            <a:ext cx="10515600" cy="4351338"/>
          </a:xfrm>
        </p:spPr>
        <p:txBody>
          <a:bodyPr>
            <a:normAutofit/>
          </a:bodyPr>
          <a:lstStyle/>
          <a:p>
            <a:r>
              <a:rPr lang="en-US" sz="2000" dirty="0">
                <a:latin typeface="Times New Roman" panose="02020603050405020304" pitchFamily="18" charset="0"/>
                <a:cs typeface="Times New Roman" panose="02020603050405020304" pitchFamily="18" charset="0"/>
              </a:rPr>
              <a:t>Wide area network provides long distance transmission of data. The size of the WAN is larger than LAN and MAN. </a:t>
            </a:r>
          </a:p>
          <a:p>
            <a:r>
              <a:rPr lang="en-US" sz="2000" dirty="0">
                <a:latin typeface="Times New Roman" panose="02020603050405020304" pitchFamily="18" charset="0"/>
                <a:cs typeface="Times New Roman" panose="02020603050405020304" pitchFamily="18" charset="0"/>
              </a:rPr>
              <a:t>A WAN can cover country, continent or even a whole world. Internet connection an example of WAN. Other examples of WAN are mobile broadband connections such as 3G, 4G etc.</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7550" y="3053828"/>
            <a:ext cx="5715000" cy="2857500"/>
          </a:xfrm>
          <a:prstGeom prst="rect">
            <a:avLst/>
          </a:prstGeom>
        </p:spPr>
      </p:pic>
      <p:sp>
        <p:nvSpPr>
          <p:cNvPr id="4" name="Slide Number Placeholder 3"/>
          <p:cNvSpPr>
            <a:spLocks noGrp="1"/>
          </p:cNvSpPr>
          <p:nvPr>
            <p:ph type="sldNum" sz="quarter" idx="12"/>
          </p:nvPr>
        </p:nvSpPr>
        <p:spPr/>
        <p:txBody>
          <a:bodyPr/>
          <a:lstStyle/>
          <a:p>
            <a:fld id="{9426EEF7-B005-4926-9DF9-6CB0296B93C6}" type="slidenum">
              <a:rPr lang="en-US" smtClean="0"/>
              <a:t>28</a:t>
            </a:fld>
            <a:endParaRPr lang="en-US"/>
          </a:p>
        </p:txBody>
      </p:sp>
    </p:spTree>
    <p:extLst>
      <p:ext uri="{BB962C8B-B14F-4D97-AF65-F5344CB8AC3E}">
        <p14:creationId xmlns:p14="http://schemas.microsoft.com/office/powerpoint/2010/main" val="14533523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4841" y="234818"/>
            <a:ext cx="10515600" cy="6153281"/>
          </a:xfrm>
        </p:spPr>
        <p:txBody>
          <a:bodyPr>
            <a:normAutofit/>
          </a:bodyPr>
          <a:lstStyle/>
          <a:p>
            <a:pPr marL="0" indent="0" algn="ctr">
              <a:buNone/>
            </a:pPr>
            <a:r>
              <a:rPr lang="en-US" b="1" dirty="0">
                <a:latin typeface="Arial Black" panose="020B0A04020102020204" pitchFamily="34" charset="0"/>
                <a:cs typeface="Times New Roman" panose="02020603050405020304" pitchFamily="18" charset="0"/>
              </a:rPr>
              <a:t>Advantages of WAN:</a:t>
            </a:r>
          </a:p>
          <a:p>
            <a:pPr>
              <a:lnSpc>
                <a:spcPct val="150000"/>
              </a:lnSpc>
            </a:pPr>
            <a:endParaRPr lang="en-US" sz="2000" b="1" dirty="0">
              <a:latin typeface="Arial Black" panose="020B0A04020102020204" pitchFamily="34"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Centralized infrastructure:</a:t>
            </a:r>
            <a:r>
              <a:rPr lang="en-US" sz="2000" dirty="0">
                <a:latin typeface="Times New Roman" panose="02020603050405020304" pitchFamily="18" charset="0"/>
                <a:cs typeface="Times New Roman" panose="02020603050405020304" pitchFamily="18" charset="0"/>
              </a:rPr>
              <a:t> One of the main advantage of WAN is the that we do not need to maintain the backup and store data on local system as everything is stored online on a data center, from where we can access the data through WAN.</a:t>
            </a:r>
          </a:p>
          <a:p>
            <a:pPr>
              <a:lnSpc>
                <a:spcPct val="150000"/>
              </a:lnSpc>
            </a:pPr>
            <a:r>
              <a:rPr lang="en-US" sz="2000" b="1" dirty="0">
                <a:latin typeface="Times New Roman" panose="02020603050405020304" pitchFamily="18" charset="0"/>
                <a:cs typeface="Times New Roman" panose="02020603050405020304" pitchFamily="18" charset="0"/>
              </a:rPr>
              <a:t>Privacy:</a:t>
            </a:r>
            <a:r>
              <a:rPr lang="en-US" sz="2000" dirty="0">
                <a:latin typeface="Times New Roman" panose="02020603050405020304" pitchFamily="18" charset="0"/>
                <a:cs typeface="Times New Roman" panose="02020603050405020304" pitchFamily="18" charset="0"/>
              </a:rPr>
              <a:t> We can setup the WAN in such a way that it encrypts the data that we share online that way the data is secure and minimizes the risk of unauthorized access.</a:t>
            </a:r>
          </a:p>
          <a:p>
            <a:pPr>
              <a:lnSpc>
                <a:spcPct val="150000"/>
              </a:lnSpc>
            </a:pPr>
            <a:r>
              <a:rPr lang="en-US" sz="2000" b="1" dirty="0">
                <a:latin typeface="Times New Roman" panose="02020603050405020304" pitchFamily="18" charset="0"/>
                <a:cs typeface="Times New Roman" panose="02020603050405020304" pitchFamily="18" charset="0"/>
              </a:rPr>
              <a:t>Increased Bandwidth: </a:t>
            </a:r>
            <a:r>
              <a:rPr lang="en-US" sz="2000" dirty="0">
                <a:latin typeface="Times New Roman" panose="02020603050405020304" pitchFamily="18" charset="0"/>
                <a:cs typeface="Times New Roman" panose="02020603050405020304" pitchFamily="18" charset="0"/>
              </a:rPr>
              <a:t>With the WAN we get to choose the bandwidth based on we need, a large organization can have larger bandwidth that can carry large amount of data faster and efficiently.</a:t>
            </a:r>
          </a:p>
          <a:p>
            <a:pPr>
              <a:lnSpc>
                <a:spcPct val="150000"/>
              </a:lnSpc>
            </a:pPr>
            <a:r>
              <a:rPr lang="en-US" sz="2000" b="1" dirty="0">
                <a:latin typeface="Times New Roman" panose="02020603050405020304" pitchFamily="18" charset="0"/>
                <a:cs typeface="Times New Roman" panose="02020603050405020304" pitchFamily="18" charset="0"/>
              </a:rPr>
              <a:t>Area:</a:t>
            </a:r>
            <a:r>
              <a:rPr lang="en-US" sz="2000" dirty="0">
                <a:latin typeface="Times New Roman" panose="02020603050405020304" pitchFamily="18" charset="0"/>
                <a:cs typeface="Times New Roman" panose="02020603050405020304" pitchFamily="18" charset="0"/>
              </a:rPr>
              <a:t> A WAN can cover a large area or even a whole world though internet connection thus we can connect with the person in another country through WAN which is not possible is other type of computer networks.</a:t>
            </a:r>
          </a:p>
        </p:txBody>
      </p:sp>
      <p:sp>
        <p:nvSpPr>
          <p:cNvPr id="2" name="Slide Number Placeholder 1"/>
          <p:cNvSpPr>
            <a:spLocks noGrp="1"/>
          </p:cNvSpPr>
          <p:nvPr>
            <p:ph type="sldNum" sz="quarter" idx="12"/>
          </p:nvPr>
        </p:nvSpPr>
        <p:spPr/>
        <p:txBody>
          <a:bodyPr/>
          <a:lstStyle/>
          <a:p>
            <a:fld id="{9426EEF7-B005-4926-9DF9-6CB0296B93C6}" type="slidenum">
              <a:rPr lang="en-US" smtClean="0"/>
              <a:t>29</a:t>
            </a:fld>
            <a:endParaRPr lang="en-US"/>
          </a:p>
        </p:txBody>
      </p:sp>
    </p:spTree>
    <p:extLst>
      <p:ext uri="{BB962C8B-B14F-4D97-AF65-F5344CB8AC3E}">
        <p14:creationId xmlns:p14="http://schemas.microsoft.com/office/powerpoint/2010/main" val="3354715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43828"/>
          </a:xfrm>
        </p:spPr>
        <p:txBody>
          <a:bodyPr>
            <a:normAutofit/>
          </a:bodyPr>
          <a:lstStyle/>
          <a:p>
            <a:pPr algn="ctr"/>
            <a:r>
              <a:rPr lang="en-US" sz="3200" b="1" dirty="0">
                <a:latin typeface="Arial Black" panose="020B0A04020102020204" pitchFamily="34" charset="0"/>
                <a:cs typeface="Times New Roman" panose="02020603050405020304" pitchFamily="18" charset="0"/>
              </a:rPr>
              <a:t>Disadvantages of WAN:</a:t>
            </a:r>
            <a:endParaRPr lang="en-US" sz="3200" dirty="0"/>
          </a:p>
        </p:txBody>
      </p:sp>
      <p:sp>
        <p:nvSpPr>
          <p:cNvPr id="3" name="Content Placeholder 2"/>
          <p:cNvSpPr>
            <a:spLocks noGrp="1"/>
          </p:cNvSpPr>
          <p:nvPr>
            <p:ph idx="1"/>
          </p:nvPr>
        </p:nvSpPr>
        <p:spPr>
          <a:xfrm>
            <a:off x="739302" y="1420238"/>
            <a:ext cx="10797702" cy="4936111"/>
          </a:xfrm>
        </p:spPr>
        <p:txBody>
          <a:bodyPr>
            <a:normAutofit/>
          </a:bodyPr>
          <a:lstStyle/>
          <a:p>
            <a:pPr>
              <a:lnSpc>
                <a:spcPct val="200000"/>
              </a:lnSpc>
            </a:pPr>
            <a:r>
              <a:rPr lang="en-US" sz="2200" b="1" dirty="0">
                <a:latin typeface="Times New Roman" panose="02020603050405020304" pitchFamily="18" charset="0"/>
                <a:cs typeface="Times New Roman" panose="02020603050405020304" pitchFamily="18" charset="0"/>
              </a:rPr>
              <a:t>Antivirus: </a:t>
            </a:r>
            <a:r>
              <a:rPr lang="en-US" sz="2200" dirty="0">
                <a:latin typeface="Times New Roman" panose="02020603050405020304" pitchFamily="18" charset="0"/>
                <a:cs typeface="Times New Roman" panose="02020603050405020304" pitchFamily="18" charset="0"/>
              </a:rPr>
              <a:t>Since our systems are connected with the large amount of systems, there is possibility that we may unknowingly download the virus that can affect our system and become threat to our privacy and may lead to data loss.</a:t>
            </a:r>
          </a:p>
          <a:p>
            <a:pPr>
              <a:lnSpc>
                <a:spcPct val="200000"/>
              </a:lnSpc>
            </a:pPr>
            <a:r>
              <a:rPr lang="en-US" sz="2200" b="1" dirty="0">
                <a:latin typeface="Times New Roman" panose="02020603050405020304" pitchFamily="18" charset="0"/>
                <a:cs typeface="Times New Roman" panose="02020603050405020304" pitchFamily="18" charset="0"/>
              </a:rPr>
              <a:t>Expensive:</a:t>
            </a:r>
            <a:r>
              <a:rPr lang="en-US" sz="2200" dirty="0">
                <a:latin typeface="Times New Roman" panose="02020603050405020304" pitchFamily="18" charset="0"/>
                <a:cs typeface="Times New Roman" panose="02020603050405020304" pitchFamily="18" charset="0"/>
              </a:rPr>
              <a:t> Cost of installation is very high.</a:t>
            </a:r>
          </a:p>
          <a:p>
            <a:pPr>
              <a:lnSpc>
                <a:spcPct val="200000"/>
              </a:lnSpc>
            </a:pPr>
            <a:r>
              <a:rPr lang="en-US" sz="2200" b="1" dirty="0">
                <a:latin typeface="Times New Roman" panose="02020603050405020304" pitchFamily="18" charset="0"/>
                <a:cs typeface="Times New Roman" panose="02020603050405020304" pitchFamily="18" charset="0"/>
              </a:rPr>
              <a:t>Issue resolution: </a:t>
            </a:r>
            <a:r>
              <a:rPr lang="en-US" sz="2200" dirty="0">
                <a:latin typeface="Times New Roman" panose="02020603050405020304" pitchFamily="18" charset="0"/>
                <a:cs typeface="Times New Roman" panose="02020603050405020304" pitchFamily="18" charset="0"/>
              </a:rPr>
              <a:t>Issue resolution takes time as the WAN covers large area, it is really difficult to pin point the exact location where the issues raised and causing the problem</a:t>
            </a:r>
            <a:r>
              <a:rPr lang="en-US" sz="2000" dirty="0"/>
              <a:t>.</a:t>
            </a:r>
            <a:endParaRPr lang="en-US" sz="2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30</a:t>
            </a:fld>
            <a:endParaRPr lang="en-US"/>
          </a:p>
        </p:txBody>
      </p:sp>
    </p:spTree>
    <p:extLst>
      <p:ext uri="{BB962C8B-B14F-4D97-AF65-F5344CB8AC3E}">
        <p14:creationId xmlns:p14="http://schemas.microsoft.com/office/powerpoint/2010/main" val="1042789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4101"/>
          </a:xfrm>
        </p:spPr>
        <p:txBody>
          <a:bodyPr>
            <a:normAutofit/>
          </a:bodyPr>
          <a:lstStyle/>
          <a:p>
            <a:pPr algn="ctr"/>
            <a:r>
              <a:rPr lang="en-US" sz="2800" b="1" dirty="0">
                <a:latin typeface="Arial Black" panose="020B0A04020102020204" pitchFamily="34" charset="0"/>
                <a:cs typeface="Times New Roman" panose="02020603050405020304" pitchFamily="18" charset="0"/>
              </a:rPr>
              <a:t>Metropolitan-area network (MAN)</a:t>
            </a:r>
          </a:p>
        </p:txBody>
      </p:sp>
      <p:sp>
        <p:nvSpPr>
          <p:cNvPr id="3" name="Content Placeholder 2"/>
          <p:cNvSpPr>
            <a:spLocks noGrp="1"/>
          </p:cNvSpPr>
          <p:nvPr>
            <p:ph idx="1"/>
          </p:nvPr>
        </p:nvSpPr>
        <p:spPr>
          <a:xfrm>
            <a:off x="457200" y="1264596"/>
            <a:ext cx="10896600" cy="4912367"/>
          </a:xfrm>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MAN network covers larger area by connections LANs to a larger network of computers. In Metropolitan area network various Local area networks are connected with each other through telephone lines. </a:t>
            </a:r>
          </a:p>
          <a:p>
            <a:pPr>
              <a:lnSpc>
                <a:spcPct val="150000"/>
              </a:lnSpc>
            </a:pPr>
            <a:r>
              <a:rPr lang="en-US" sz="2000" dirty="0">
                <a:latin typeface="Times New Roman" panose="02020603050405020304" pitchFamily="18" charset="0"/>
                <a:cs typeface="Times New Roman" panose="02020603050405020304" pitchFamily="18" charset="0"/>
              </a:rPr>
              <a:t>The size of the Metropolitan area network is larger than LANs and smaller than WANs(wide area networks), a MANs covers the larger area of a city or town.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6943" y="4043604"/>
            <a:ext cx="5158113" cy="2579057"/>
          </a:xfrm>
          <a:prstGeom prst="rect">
            <a:avLst/>
          </a:prstGeom>
        </p:spPr>
      </p:pic>
      <p:sp>
        <p:nvSpPr>
          <p:cNvPr id="4" name="Slide Number Placeholder 3"/>
          <p:cNvSpPr>
            <a:spLocks noGrp="1"/>
          </p:cNvSpPr>
          <p:nvPr>
            <p:ph type="sldNum" sz="quarter" idx="12"/>
          </p:nvPr>
        </p:nvSpPr>
        <p:spPr/>
        <p:txBody>
          <a:bodyPr/>
          <a:lstStyle/>
          <a:p>
            <a:fld id="{9426EEF7-B005-4926-9DF9-6CB0296B93C6}" type="slidenum">
              <a:rPr lang="en-US" smtClean="0"/>
              <a:t>31</a:t>
            </a:fld>
            <a:endParaRPr lang="en-US"/>
          </a:p>
        </p:txBody>
      </p:sp>
    </p:spTree>
    <p:extLst>
      <p:ext uri="{BB962C8B-B14F-4D97-AF65-F5344CB8AC3E}">
        <p14:creationId xmlns:p14="http://schemas.microsoft.com/office/powerpoint/2010/main" val="2658626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latin typeface="Arial Black" panose="020B0A04020102020204" pitchFamily="34" charset="0"/>
                <a:cs typeface="Times New Roman" panose="02020603050405020304" pitchFamily="18" charset="0"/>
              </a:rPr>
              <a:t>Advantages of a metropolitan area network (MAN)</a:t>
            </a:r>
            <a:endParaRPr lang="en-US"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Less expensive:</a:t>
            </a:r>
            <a:r>
              <a:rPr lang="en-US" sz="2000" dirty="0">
                <a:latin typeface="Times New Roman" panose="02020603050405020304" pitchFamily="18" charset="0"/>
                <a:cs typeface="Times New Roman" panose="02020603050405020304" pitchFamily="18" charset="0"/>
              </a:rPr>
              <a:t> It is less expensive to attach MAN with WAN. MAN gives the good efficiency of data. In MAN data is easily managed in a centralized way.</a:t>
            </a:r>
          </a:p>
          <a:p>
            <a:pPr>
              <a:lnSpc>
                <a:spcPct val="150000"/>
              </a:lnSpc>
            </a:pPr>
            <a:r>
              <a:rPr lang="en-US" sz="2000" b="1" dirty="0">
                <a:latin typeface="Times New Roman" panose="02020603050405020304" pitchFamily="18" charset="0"/>
                <a:cs typeface="Times New Roman" panose="02020603050405020304" pitchFamily="18" charset="0"/>
              </a:rPr>
              <a:t>Sending local emails:</a:t>
            </a:r>
            <a:r>
              <a:rPr lang="en-US" sz="2000" dirty="0">
                <a:latin typeface="Times New Roman" panose="02020603050405020304" pitchFamily="18" charset="0"/>
                <a:cs typeface="Times New Roman" panose="02020603050405020304" pitchFamily="18" charset="0"/>
              </a:rPr>
              <a:t> On MAN you can send local emails fast and free.</a:t>
            </a:r>
          </a:p>
          <a:p>
            <a:pPr>
              <a:lnSpc>
                <a:spcPct val="150000"/>
              </a:lnSpc>
            </a:pPr>
            <a:r>
              <a:rPr lang="en-US" sz="2000" b="1" dirty="0">
                <a:latin typeface="Times New Roman" panose="02020603050405020304" pitchFamily="18" charset="0"/>
                <a:cs typeface="Times New Roman" panose="02020603050405020304" pitchFamily="18" charset="0"/>
              </a:rPr>
              <a:t>High speed than WAN:</a:t>
            </a:r>
            <a:r>
              <a:rPr lang="en-US" sz="2000" dirty="0">
                <a:latin typeface="Times New Roman" panose="02020603050405020304" pitchFamily="18" charset="0"/>
                <a:cs typeface="Times New Roman" panose="02020603050405020304" pitchFamily="18" charset="0"/>
              </a:rPr>
              <a:t> MAN uses fiber optics so the speed of data can easily reach upon </a:t>
            </a:r>
            <a:r>
              <a:rPr lang="en-US" sz="2000" b="1" dirty="0">
                <a:latin typeface="Times New Roman" panose="02020603050405020304" pitchFamily="18" charset="0"/>
                <a:cs typeface="Times New Roman" panose="02020603050405020304" pitchFamily="18" charset="0"/>
              </a:rPr>
              <a:t>1000 Mbps</a:t>
            </a:r>
            <a:r>
              <a:rPr lang="en-US" sz="2000" dirty="0">
                <a:latin typeface="Times New Roman" panose="02020603050405020304" pitchFamily="18" charset="0"/>
                <a:cs typeface="Times New Roman" panose="02020603050405020304" pitchFamily="18" charset="0"/>
              </a:rPr>
              <a:t>. Files and databases can be transferred fast.</a:t>
            </a:r>
          </a:p>
          <a:p>
            <a:pPr>
              <a:lnSpc>
                <a:spcPct val="150000"/>
              </a:lnSpc>
            </a:pPr>
            <a:r>
              <a:rPr lang="en-US" sz="2000" b="1" dirty="0">
                <a:latin typeface="Times New Roman" panose="02020603050405020304" pitchFamily="18" charset="0"/>
                <a:cs typeface="Times New Roman" panose="02020603050405020304" pitchFamily="18" charset="0"/>
              </a:rPr>
              <a:t>Sharing of the internet:</a:t>
            </a:r>
            <a:r>
              <a:rPr lang="en-US" sz="2000" dirty="0">
                <a:latin typeface="Times New Roman" panose="02020603050405020304" pitchFamily="18" charset="0"/>
                <a:cs typeface="Times New Roman" panose="02020603050405020304" pitchFamily="18" charset="0"/>
              </a:rPr>
              <a:t> In some installation of MANs, users can share their internet connection. So multiple users can get the same high-speed internet.</a:t>
            </a:r>
          </a:p>
          <a:p>
            <a:pPr>
              <a:lnSpc>
                <a:spcPct val="150000"/>
              </a:lnSpc>
            </a:pPr>
            <a:r>
              <a:rPr lang="en-US" sz="2000" b="1" dirty="0">
                <a:latin typeface="Times New Roman" panose="02020603050405020304" pitchFamily="18" charset="0"/>
                <a:cs typeface="Times New Roman" panose="02020603050405020304" pitchFamily="18" charset="0"/>
              </a:rPr>
              <a:t>Conversion from LAN to MAN is easy:</a:t>
            </a:r>
            <a:r>
              <a:rPr lang="en-US" sz="2000" dirty="0">
                <a:latin typeface="Times New Roman" panose="02020603050405020304" pitchFamily="18" charset="0"/>
                <a:cs typeface="Times New Roman" panose="02020603050405020304" pitchFamily="18" charset="0"/>
              </a:rPr>
              <a:t> MAN is a faster way to connect two fast LANs together. This is due to the fast configuration of links.</a:t>
            </a:r>
          </a:p>
          <a:p>
            <a:pPr>
              <a:lnSpc>
                <a:spcPct val="150000"/>
              </a:lnSpc>
            </a:pPr>
            <a:r>
              <a:rPr lang="en-US" sz="2000" b="1" dirty="0">
                <a:latin typeface="Times New Roman" panose="02020603050405020304" pitchFamily="18" charset="0"/>
                <a:cs typeface="Times New Roman" panose="02020603050405020304" pitchFamily="18" charset="0"/>
              </a:rPr>
              <a:t>High Security:</a:t>
            </a:r>
            <a:r>
              <a:rPr lang="en-US" sz="2000" dirty="0">
                <a:latin typeface="Times New Roman" panose="02020603050405020304" pitchFamily="18" charset="0"/>
                <a:cs typeface="Times New Roman" panose="02020603050405020304" pitchFamily="18" charset="0"/>
              </a:rPr>
              <a:t> MAN has a high-security level than WAN.</a:t>
            </a:r>
          </a:p>
          <a:p>
            <a:endParaRPr lang="en-US" sz="19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32</a:t>
            </a:fld>
            <a:endParaRPr lang="en-US"/>
          </a:p>
        </p:txBody>
      </p:sp>
    </p:spTree>
    <p:extLst>
      <p:ext uri="{BB962C8B-B14F-4D97-AF65-F5344CB8AC3E}">
        <p14:creationId xmlns:p14="http://schemas.microsoft.com/office/powerpoint/2010/main" val="3400592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21649"/>
          </a:xfrm>
        </p:spPr>
        <p:txBody>
          <a:bodyPr>
            <a:normAutofit/>
          </a:bodyPr>
          <a:lstStyle/>
          <a:p>
            <a:pPr algn="ctr"/>
            <a:r>
              <a:rPr lang="en-US" sz="2800" b="1" dirty="0">
                <a:latin typeface="Arial Black" panose="020B0A04020102020204" pitchFamily="34" charset="0"/>
                <a:cs typeface="Times New Roman" panose="02020603050405020304" pitchFamily="18" charset="0"/>
              </a:rPr>
              <a:t>Disadvantages of metropolitan area network (MAN)</a:t>
            </a:r>
            <a:endParaRPr lang="en-US" sz="2800" dirty="0">
              <a:latin typeface="Arial Black" panose="020B0A04020102020204" pitchFamily="34" charset="0"/>
            </a:endParaRPr>
          </a:p>
        </p:txBody>
      </p:sp>
      <p:sp>
        <p:nvSpPr>
          <p:cNvPr id="3" name="Content Placeholder 2"/>
          <p:cNvSpPr>
            <a:spLocks noGrp="1"/>
          </p:cNvSpPr>
          <p:nvPr>
            <p:ph idx="1"/>
          </p:nvPr>
        </p:nvSpPr>
        <p:spPr>
          <a:xfrm>
            <a:off x="496111" y="1070043"/>
            <a:ext cx="10972800" cy="5359940"/>
          </a:xfrm>
        </p:spPr>
        <p:txBody>
          <a:bodyPr>
            <a:noAutofit/>
          </a:bodyPr>
          <a:lstStyle/>
          <a:p>
            <a:pPr>
              <a:lnSpc>
                <a:spcPct val="150000"/>
              </a:lnSpc>
            </a:pPr>
            <a:r>
              <a:rPr lang="en-US" sz="2000" b="1" dirty="0">
                <a:latin typeface="Times New Roman" panose="02020603050405020304" pitchFamily="18" charset="0"/>
                <a:cs typeface="Times New Roman" panose="02020603050405020304" pitchFamily="18" charset="0"/>
              </a:rPr>
              <a:t>Difficult to manage:</a:t>
            </a:r>
            <a:r>
              <a:rPr lang="en-US" sz="2000" dirty="0">
                <a:latin typeface="Times New Roman" panose="02020603050405020304" pitchFamily="18" charset="0"/>
                <a:cs typeface="Times New Roman" panose="02020603050405020304" pitchFamily="18" charset="0"/>
              </a:rPr>
              <a:t> If MAN becomes bigger then it becomes difficult to manage it. This is due to a security problem and other extra configuration.</a:t>
            </a:r>
          </a:p>
          <a:p>
            <a:pPr>
              <a:lnSpc>
                <a:spcPct val="150000"/>
              </a:lnSpc>
            </a:pPr>
            <a:r>
              <a:rPr lang="en-US" sz="2000" b="1" dirty="0">
                <a:latin typeface="Times New Roman" panose="02020603050405020304" pitchFamily="18" charset="0"/>
                <a:cs typeface="Times New Roman" panose="02020603050405020304" pitchFamily="18" charset="0"/>
              </a:rPr>
              <a:t>Internet speed difference:</a:t>
            </a:r>
            <a:r>
              <a:rPr lang="en-US" sz="2000" dirty="0">
                <a:latin typeface="Times New Roman" panose="02020603050405020304" pitchFamily="18" charset="0"/>
                <a:cs typeface="Times New Roman" panose="02020603050405020304" pitchFamily="18" charset="0"/>
              </a:rPr>
              <a:t> MAN cannot work on traditional phone copper wires. If MAN is installed on copper wires then there will be very low speed. So it required the high cost to set up fiber optics for the first time.</a:t>
            </a:r>
          </a:p>
          <a:p>
            <a:pPr>
              <a:lnSpc>
                <a:spcPct val="150000"/>
              </a:lnSpc>
            </a:pPr>
            <a:r>
              <a:rPr lang="en-US" sz="2000" b="1" dirty="0">
                <a:latin typeface="Times New Roman" panose="02020603050405020304" pitchFamily="18" charset="0"/>
                <a:cs typeface="Times New Roman" panose="02020603050405020304" pitchFamily="18" charset="0"/>
              </a:rPr>
              <a:t>Hackers attack:</a:t>
            </a:r>
            <a:r>
              <a:rPr lang="en-US" sz="2000" dirty="0">
                <a:latin typeface="Times New Roman" panose="02020603050405020304" pitchFamily="18" charset="0"/>
                <a:cs typeface="Times New Roman" panose="02020603050405020304" pitchFamily="18" charset="0"/>
              </a:rPr>
              <a:t> In MAN there are high chances of attacking hackers on the network compared to LAN. So data may be leaked. Data can be secured but it needs high trained staff and security tools.</a:t>
            </a:r>
          </a:p>
          <a:p>
            <a:pPr>
              <a:lnSpc>
                <a:spcPct val="150000"/>
              </a:lnSpc>
            </a:pPr>
            <a:r>
              <a:rPr lang="en-US" sz="2000" b="1" dirty="0">
                <a:latin typeface="Times New Roman" panose="02020603050405020304" pitchFamily="18" charset="0"/>
                <a:cs typeface="Times New Roman" panose="02020603050405020304" pitchFamily="18" charset="0"/>
              </a:rPr>
              <a:t>Technical people required to set up: </a:t>
            </a:r>
            <a:r>
              <a:rPr lang="en-US" sz="2000" dirty="0">
                <a:latin typeface="Times New Roman" panose="02020603050405020304" pitchFamily="18" charset="0"/>
                <a:cs typeface="Times New Roman" panose="02020603050405020304" pitchFamily="18" charset="0"/>
              </a:rPr>
              <a:t>to setup MAN it requires technical people that can correctly setup MAN. The technical people are network administrators and troubleshooters.</a:t>
            </a:r>
          </a:p>
          <a:p>
            <a:pPr>
              <a:lnSpc>
                <a:spcPct val="150000"/>
              </a:lnSpc>
            </a:pPr>
            <a:endParaRPr lang="en-US" sz="2400" dirty="0"/>
          </a:p>
        </p:txBody>
      </p:sp>
      <p:sp>
        <p:nvSpPr>
          <p:cNvPr id="4" name="Slide Number Placeholder 3"/>
          <p:cNvSpPr>
            <a:spLocks noGrp="1"/>
          </p:cNvSpPr>
          <p:nvPr>
            <p:ph type="sldNum" sz="quarter" idx="12"/>
          </p:nvPr>
        </p:nvSpPr>
        <p:spPr/>
        <p:txBody>
          <a:bodyPr/>
          <a:lstStyle/>
          <a:p>
            <a:fld id="{9426EEF7-B005-4926-9DF9-6CB0296B93C6}" type="slidenum">
              <a:rPr lang="en-US" smtClean="0"/>
              <a:t>33</a:t>
            </a:fld>
            <a:endParaRPr lang="en-US"/>
          </a:p>
        </p:txBody>
      </p:sp>
    </p:spTree>
    <p:extLst>
      <p:ext uri="{BB962C8B-B14F-4D97-AF65-F5344CB8AC3E}">
        <p14:creationId xmlns:p14="http://schemas.microsoft.com/office/powerpoint/2010/main" val="7801535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latin typeface="Arial Black" panose="020B0A04020102020204" pitchFamily="34" charset="0"/>
                <a:cs typeface="Times New Roman" panose="02020603050405020304" pitchFamily="18" charset="0"/>
              </a:rPr>
              <a:t>Network topology</a:t>
            </a:r>
          </a:p>
        </p:txBody>
      </p:sp>
      <p:sp>
        <p:nvSpPr>
          <p:cNvPr id="3" name="Content Placeholder 2"/>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Network topology refers to how various nodes, devices and connections on your network are physically or logically arranged in relation to each other.</a:t>
            </a:r>
          </a:p>
          <a:p>
            <a:pPr marL="0" indent="0">
              <a:buNone/>
            </a:pPr>
            <a:endParaRPr lang="en-US" sz="2400" dirty="0">
              <a:latin typeface="Times New Roman" panose="02020603050405020304" pitchFamily="18" charset="0"/>
              <a:cs typeface="Times New Roman" panose="02020603050405020304" pitchFamily="18" charset="0"/>
            </a:endParaRPr>
          </a:p>
          <a:p>
            <a:pPr marL="0" indent="0" algn="ctr">
              <a:buNone/>
            </a:pPr>
            <a:r>
              <a:rPr lang="en-US" sz="2400" b="1" i="1" dirty="0">
                <a:latin typeface="Times New Roman" panose="02020603050405020304" pitchFamily="18" charset="0"/>
                <a:cs typeface="Times New Roman" panose="02020603050405020304" pitchFamily="18" charset="0"/>
              </a:rPr>
              <a:t>There are two approaches to a network topology.</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Physical network topology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Logical network topology</a:t>
            </a:r>
          </a:p>
          <a:p>
            <a:pPr marL="0" indent="0">
              <a:buNone/>
            </a:pPr>
            <a:endParaRPr lang="en-US" dirty="0"/>
          </a:p>
        </p:txBody>
      </p:sp>
      <p:sp>
        <p:nvSpPr>
          <p:cNvPr id="4" name="Slide Number Placeholder 3"/>
          <p:cNvSpPr>
            <a:spLocks noGrp="1"/>
          </p:cNvSpPr>
          <p:nvPr>
            <p:ph type="sldNum" sz="quarter" idx="12"/>
          </p:nvPr>
        </p:nvSpPr>
        <p:spPr/>
        <p:txBody>
          <a:bodyPr/>
          <a:lstStyle/>
          <a:p>
            <a:fld id="{9426EEF7-B005-4926-9DF9-6CB0296B93C6}" type="slidenum">
              <a:rPr lang="en-US" smtClean="0"/>
              <a:t>34</a:t>
            </a:fld>
            <a:endParaRPr lang="en-US"/>
          </a:p>
        </p:txBody>
      </p:sp>
    </p:spTree>
    <p:extLst>
      <p:ext uri="{BB962C8B-B14F-4D97-AF65-F5344CB8AC3E}">
        <p14:creationId xmlns:p14="http://schemas.microsoft.com/office/powerpoint/2010/main" val="1730855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8458"/>
          </a:xfrm>
        </p:spPr>
        <p:txBody>
          <a:bodyPr>
            <a:normAutofit/>
          </a:bodyPr>
          <a:lstStyle/>
          <a:p>
            <a:pPr algn="ctr"/>
            <a:r>
              <a:rPr lang="en-US" sz="2400" dirty="0">
                <a:latin typeface="Arial Black" panose="020B0A04020102020204" pitchFamily="34" charset="0"/>
                <a:cs typeface="Times New Roman" panose="02020603050405020304" pitchFamily="18" charset="0"/>
              </a:rPr>
              <a:t>Physical network topology </a:t>
            </a:r>
            <a:endParaRPr lang="en-US" sz="2400" dirty="0">
              <a:latin typeface="Arial Black" panose="020B0A04020102020204" pitchFamily="34" charset="0"/>
            </a:endParaRPr>
          </a:p>
        </p:txBody>
      </p:sp>
      <p:sp>
        <p:nvSpPr>
          <p:cNvPr id="3" name="Content Placeholder 2"/>
          <p:cNvSpPr>
            <a:spLocks noGrp="1"/>
          </p:cNvSpPr>
          <p:nvPr>
            <p:ph idx="1"/>
          </p:nvPr>
        </p:nvSpPr>
        <p:spPr>
          <a:xfrm>
            <a:off x="838199" y="1193326"/>
            <a:ext cx="10903085" cy="5163024"/>
          </a:xfrm>
        </p:spPr>
        <p:txBody>
          <a:bodyPr>
            <a:normAutofit/>
          </a:bodyPr>
          <a:lstStyle/>
          <a:p>
            <a:pPr>
              <a:lnSpc>
                <a:spcPct val="150000"/>
              </a:lnSpc>
            </a:pPr>
            <a:r>
              <a:rPr lang="en-US" sz="2000" b="1" dirty="0">
                <a:latin typeface="Times New Roman" panose="02020603050405020304" pitchFamily="18" charset="0"/>
                <a:cs typeface="Times New Roman" panose="02020603050405020304" pitchFamily="18" charset="0"/>
              </a:rPr>
              <a:t>Physical network topology</a:t>
            </a:r>
            <a:r>
              <a:rPr lang="en-US" sz="2000" dirty="0">
                <a:latin typeface="Times New Roman" panose="02020603050405020304" pitchFamily="18" charset="0"/>
                <a:cs typeface="Times New Roman" panose="02020603050405020304" pitchFamily="18" charset="0"/>
              </a:rPr>
              <a:t> refers to the </a:t>
            </a:r>
            <a:r>
              <a:rPr lang="en-US" sz="2000" b="1" dirty="0">
                <a:latin typeface="Times New Roman" panose="02020603050405020304" pitchFamily="18" charset="0"/>
                <a:cs typeface="Times New Roman" panose="02020603050405020304" pitchFamily="18" charset="0"/>
              </a:rPr>
              <a:t>actual physical layout</a:t>
            </a:r>
            <a:r>
              <a:rPr lang="en-US" sz="2000" dirty="0">
                <a:latin typeface="Times New Roman" panose="02020603050405020304" pitchFamily="18" charset="0"/>
                <a:cs typeface="Times New Roman" panose="02020603050405020304" pitchFamily="18" charset="0"/>
              </a:rPr>
              <a:t> of devices (computers, routers, switches, cables) in a network. It defines how devices are </a:t>
            </a:r>
            <a:r>
              <a:rPr lang="en-US" sz="2000" b="1" dirty="0">
                <a:latin typeface="Times New Roman" panose="02020603050405020304" pitchFamily="18" charset="0"/>
                <a:cs typeface="Times New Roman" panose="02020603050405020304" pitchFamily="18" charset="0"/>
              </a:rPr>
              <a:t>physically connected</a:t>
            </a:r>
            <a:r>
              <a:rPr lang="en-US" sz="2000" dirty="0">
                <a:latin typeface="Times New Roman" panose="02020603050405020304" pitchFamily="18" charset="0"/>
                <a:cs typeface="Times New Roman" panose="02020603050405020304" pitchFamily="18" charset="0"/>
              </a:rPr>
              <a:t> and how data flows between them.</a:t>
            </a:r>
          </a:p>
          <a:p>
            <a:pPr marL="0" indent="0" algn="ctr">
              <a:lnSpc>
                <a:spcPct val="150000"/>
              </a:lnSpc>
              <a:buNone/>
            </a:pPr>
            <a:r>
              <a:rPr lang="en-US" sz="2400" dirty="0">
                <a:latin typeface="Arial Black" panose="020B0A04020102020204" pitchFamily="34" charset="0"/>
                <a:cs typeface="Times New Roman" panose="02020603050405020304" pitchFamily="18" charset="0"/>
              </a:rPr>
              <a:t>Logical network topology</a:t>
            </a:r>
          </a:p>
          <a:p>
            <a:pPr>
              <a:lnSpc>
                <a:spcPct val="150000"/>
              </a:lnSpc>
            </a:pPr>
            <a:r>
              <a:rPr lang="en-US" sz="1800" b="1" dirty="0"/>
              <a:t>Logical network topology</a:t>
            </a:r>
            <a:r>
              <a:rPr lang="en-US" sz="1800" dirty="0"/>
              <a:t> refers to how data </a:t>
            </a:r>
            <a:r>
              <a:rPr lang="en-US" sz="1800" b="1" dirty="0"/>
              <a:t>flows</a:t>
            </a:r>
            <a:r>
              <a:rPr lang="en-US" sz="1800" dirty="0"/>
              <a:t> between devices within a network, regardless of their physical connections. It defines the </a:t>
            </a:r>
            <a:r>
              <a:rPr lang="en-US" sz="1800" b="1" dirty="0"/>
              <a:t>path data takes</a:t>
            </a:r>
            <a:r>
              <a:rPr lang="en-US" sz="1800" dirty="0"/>
              <a:t>, how devices communicate, and how network protocols manage traffic.</a:t>
            </a:r>
          </a:p>
          <a:p>
            <a:pPr>
              <a:lnSpc>
                <a:spcPct val="150000"/>
              </a:lnSpc>
            </a:pPr>
            <a:r>
              <a:rPr lang="en-US" sz="1800" dirty="0"/>
              <a:t>Unlike </a:t>
            </a:r>
            <a:r>
              <a:rPr lang="en-US" sz="1800" b="1" dirty="0"/>
              <a:t>physical topology</a:t>
            </a:r>
            <a:r>
              <a:rPr lang="en-US" sz="1800" dirty="0"/>
              <a:t>, which focuses on the actual layout of devices and cables, </a:t>
            </a:r>
            <a:r>
              <a:rPr lang="en-US" sz="1800" b="1" dirty="0"/>
              <a:t>logical topology</a:t>
            </a:r>
            <a:r>
              <a:rPr lang="en-US" sz="1800" dirty="0"/>
              <a:t> is about </a:t>
            </a:r>
            <a:r>
              <a:rPr lang="en-US" sz="1800" b="1" dirty="0"/>
              <a:t>data transmission, routing, and communication rules</a:t>
            </a:r>
            <a:r>
              <a:rPr lang="en-US" sz="1800" dirty="0"/>
              <a:t>.</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35</a:t>
            </a:fld>
            <a:endParaRPr lang="en-US"/>
          </a:p>
        </p:txBody>
      </p:sp>
    </p:spTree>
    <p:extLst>
      <p:ext uri="{BB962C8B-B14F-4D97-AF65-F5344CB8AC3E}">
        <p14:creationId xmlns:p14="http://schemas.microsoft.com/office/powerpoint/2010/main" val="3872208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a:latin typeface="Arial Black" panose="020B0A04020102020204" pitchFamily="34" charset="0"/>
                <a:cs typeface="Times New Roman" panose="02020603050405020304" pitchFamily="18" charset="0"/>
              </a:rPr>
              <a:t>Types of network Topology</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There are five types of topology</a:t>
            </a:r>
          </a:p>
          <a:p>
            <a:r>
              <a:rPr lang="en-US" sz="2000" dirty="0">
                <a:latin typeface="Times New Roman" panose="02020603050405020304" pitchFamily="18" charset="0"/>
                <a:cs typeface="Times New Roman" panose="02020603050405020304" pitchFamily="18" charset="0"/>
              </a:rPr>
              <a:t>Bus </a:t>
            </a:r>
          </a:p>
          <a:p>
            <a:r>
              <a:rPr lang="en-US" sz="2000" dirty="0">
                <a:latin typeface="Times New Roman" panose="02020603050405020304" pitchFamily="18" charset="0"/>
                <a:cs typeface="Times New Roman" panose="02020603050405020304" pitchFamily="18" charset="0"/>
              </a:rPr>
              <a:t>Ring</a:t>
            </a:r>
          </a:p>
          <a:p>
            <a:r>
              <a:rPr lang="en-US" sz="2000" dirty="0">
                <a:latin typeface="Times New Roman" panose="02020603050405020304" pitchFamily="18" charset="0"/>
                <a:cs typeface="Times New Roman" panose="02020603050405020304" pitchFamily="18" charset="0"/>
              </a:rPr>
              <a:t>Star</a:t>
            </a:r>
          </a:p>
          <a:p>
            <a:r>
              <a:rPr lang="en-US" sz="2000" dirty="0">
                <a:latin typeface="Times New Roman" panose="02020603050405020304" pitchFamily="18" charset="0"/>
                <a:cs typeface="Times New Roman" panose="02020603050405020304" pitchFamily="18" charset="0"/>
              </a:rPr>
              <a:t>Mesh</a:t>
            </a:r>
          </a:p>
          <a:p>
            <a:r>
              <a:rPr lang="en-US" sz="2000" dirty="0">
                <a:latin typeface="Times New Roman" panose="02020603050405020304" pitchFamily="18" charset="0"/>
                <a:cs typeface="Times New Roman" panose="02020603050405020304" pitchFamily="18" charset="0"/>
              </a:rPr>
              <a:t>Hybrid</a:t>
            </a:r>
          </a:p>
          <a:p>
            <a:pPr marL="0" indent="0">
              <a:buNone/>
            </a:pP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815431"/>
            <a:ext cx="5715000" cy="2371725"/>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36</a:t>
            </a:fld>
            <a:endParaRPr lang="en-US"/>
          </a:p>
        </p:txBody>
      </p:sp>
    </p:spTree>
    <p:extLst>
      <p:ext uri="{BB962C8B-B14F-4D97-AF65-F5344CB8AC3E}">
        <p14:creationId xmlns:p14="http://schemas.microsoft.com/office/powerpoint/2010/main" val="42917770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4223"/>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Bus</a:t>
            </a:r>
            <a:r>
              <a:rPr lang="en-US" sz="3600" b="1"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a:xfrm>
            <a:off x="187890" y="889348"/>
            <a:ext cx="12004110" cy="5968651"/>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In bus topology there is a main cable and all the devices are connected to this main cable through drop lines. There is a device called </a:t>
            </a:r>
            <a:r>
              <a:rPr lang="en-US" sz="2000" b="1" dirty="0">
                <a:latin typeface="Times New Roman" panose="02020603050405020304" pitchFamily="18" charset="0"/>
                <a:cs typeface="Times New Roman" panose="02020603050405020304" pitchFamily="18" charset="0"/>
              </a:rPr>
              <a:t>tap</a:t>
            </a:r>
            <a:r>
              <a:rPr lang="en-US" sz="2000" dirty="0">
                <a:latin typeface="Times New Roman" panose="02020603050405020304" pitchFamily="18" charset="0"/>
                <a:cs typeface="Times New Roman" panose="02020603050405020304" pitchFamily="18" charset="0"/>
              </a:rPr>
              <a:t> that connects the drop line to the main cable. Since all the data is transmitted over the main cable, there is a limit of drop lines and the distance a main cable can have.</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Advantages of bus topology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Easy installation, each cable needs to be connected with backbone cable.</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Less cables required than Mesh and star topology</a:t>
            </a:r>
          </a:p>
          <a:p>
            <a:pPr marL="0" indent="0">
              <a:buNone/>
            </a:pPr>
            <a:endParaRPr lang="en-US" sz="2000"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Disadvantages of bus topology</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Difficultly in fault detection.</a:t>
            </a:r>
          </a:p>
          <a:p>
            <a:pPr marL="457200" indent="-457200">
              <a:buFont typeface="+mj-lt"/>
              <a:buAutoNum type="arabicPeriod"/>
            </a:pPr>
            <a:r>
              <a:rPr lang="en-US" sz="2000" dirty="0">
                <a:latin typeface="Times New Roman" panose="02020603050405020304" pitchFamily="18" charset="0"/>
                <a:cs typeface="Times New Roman" panose="02020603050405020304" pitchFamily="18" charset="0"/>
              </a:rPr>
              <a:t> Not scalable as there is a limit of how many nodes you can connect with backbone cable.</a:t>
            </a:r>
          </a:p>
          <a:p>
            <a:endParaRPr lang="en-US" sz="20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6426" y="1841001"/>
            <a:ext cx="5221005" cy="2237574"/>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37</a:t>
            </a:fld>
            <a:endParaRPr lang="en-US"/>
          </a:p>
        </p:txBody>
      </p:sp>
    </p:spTree>
    <p:extLst>
      <p:ext uri="{BB962C8B-B14F-4D97-AF65-F5344CB8AC3E}">
        <p14:creationId xmlns:p14="http://schemas.microsoft.com/office/powerpoint/2010/main" val="42861506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957"/>
          </a:xfrm>
        </p:spPr>
        <p:txBody>
          <a:bodyPr>
            <a:normAutofit fontScale="90000"/>
          </a:bodyPr>
          <a:lstStyle/>
          <a:p>
            <a:pPr algn="ctr"/>
            <a:r>
              <a:rPr lang="en-US" sz="4000" b="1" dirty="0">
                <a:latin typeface="Times New Roman" panose="02020603050405020304" pitchFamily="18" charset="0"/>
                <a:cs typeface="Times New Roman" panose="02020603050405020304" pitchFamily="18" charset="0"/>
              </a:rPr>
              <a:t>Ring</a:t>
            </a:r>
          </a:p>
        </p:txBody>
      </p:sp>
      <p:sp>
        <p:nvSpPr>
          <p:cNvPr id="3" name="Content Placeholder 2"/>
          <p:cNvSpPr>
            <a:spLocks noGrp="1"/>
          </p:cNvSpPr>
          <p:nvPr>
            <p:ph idx="1"/>
          </p:nvPr>
        </p:nvSpPr>
        <p:spPr>
          <a:xfrm>
            <a:off x="0" y="1002082"/>
            <a:ext cx="12192000" cy="5686817"/>
          </a:xfrm>
        </p:spPr>
        <p:txBody>
          <a:bodyPr>
            <a:normAutofit fontScale="55000" lnSpcReduction="20000"/>
          </a:bodyPr>
          <a:lstStyle/>
          <a:p>
            <a:pPr marL="0" indent="0">
              <a:lnSpc>
                <a:spcPct val="170000"/>
              </a:lnSpc>
              <a:buNone/>
            </a:pPr>
            <a:r>
              <a:rPr lang="en-US" dirty="0">
                <a:latin typeface="Times New Roman" panose="02020603050405020304" pitchFamily="18" charset="0"/>
                <a:cs typeface="Times New Roman" panose="02020603050405020304" pitchFamily="18" charset="0"/>
              </a:rPr>
              <a:t>In ring topology each device is connected with the two devices on either side of it. There are two dedicated point to point links a device has with the devices on the either side of it. This structure forms a ring thus it is known as ring topology. If a device wants to send data to another device then it sends the data in one direction, each device in ring topology has a repeater, if the received data is intended for other device then repeater forwards this data until the intended device receives it.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sz="3400" b="1" dirty="0">
                <a:latin typeface="Times New Roman" panose="02020603050405020304" pitchFamily="18" charset="0"/>
                <a:cs typeface="Times New Roman" panose="02020603050405020304" pitchFamily="18" charset="0"/>
              </a:rPr>
              <a:t>Advantages of Ring Topology</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Easy to install.</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Managing is easier as to add or remove a device from the topology only two links are required to be changed.</a:t>
            </a:r>
          </a:p>
          <a:p>
            <a:pPr marL="0" indent="0" algn="ctr">
              <a:buNone/>
            </a:pPr>
            <a:endParaRPr lang="en-US" sz="3400" dirty="0">
              <a:latin typeface="Times New Roman" panose="02020603050405020304" pitchFamily="18" charset="0"/>
              <a:cs typeface="Times New Roman" panose="02020603050405020304" pitchFamily="18" charset="0"/>
            </a:endParaRPr>
          </a:p>
          <a:p>
            <a:pPr marL="0" indent="0" algn="ctr">
              <a:buNone/>
            </a:pPr>
            <a:r>
              <a:rPr lang="en-US" sz="3400" b="1" dirty="0">
                <a:latin typeface="Times New Roman" panose="02020603050405020304" pitchFamily="18" charset="0"/>
                <a:cs typeface="Times New Roman" panose="02020603050405020304" pitchFamily="18" charset="0"/>
              </a:rPr>
              <a:t>Disadvantages of Ring Topology</a:t>
            </a:r>
          </a:p>
          <a:p>
            <a:pPr marL="0" indent="0" algn="ctr">
              <a:buNone/>
            </a:pPr>
            <a:endParaRPr lang="en-US" sz="3400" b="1"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 link failure can fail the entire network as the signal will not travel forward due to failure.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Data traffic issues, since all the data is circulating in a ring.</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8797" y="2053573"/>
            <a:ext cx="3814664" cy="2392471"/>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38</a:t>
            </a:fld>
            <a:endParaRPr lang="en-US"/>
          </a:p>
        </p:txBody>
      </p:sp>
    </p:spTree>
    <p:extLst>
      <p:ext uri="{BB962C8B-B14F-4D97-AF65-F5344CB8AC3E}">
        <p14:creationId xmlns:p14="http://schemas.microsoft.com/office/powerpoint/2010/main" val="565113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671" y="1"/>
            <a:ext cx="10515600" cy="825500"/>
          </a:xfrm>
        </p:spPr>
        <p:txBody>
          <a:bodyPr>
            <a:normAutofit/>
          </a:bodyPr>
          <a:lstStyle/>
          <a:p>
            <a:pPr algn="ctr"/>
            <a:r>
              <a:rPr lang="en-US" sz="4000" b="1" dirty="0">
                <a:latin typeface="Times New Roman" panose="02020603050405020304" pitchFamily="18" charset="0"/>
                <a:cs typeface="Times New Roman" panose="02020603050405020304" pitchFamily="18" charset="0"/>
              </a:rPr>
              <a:t>Star</a:t>
            </a:r>
          </a:p>
        </p:txBody>
      </p:sp>
      <p:sp>
        <p:nvSpPr>
          <p:cNvPr id="3" name="Content Placeholder 2"/>
          <p:cNvSpPr>
            <a:spLocks noGrp="1"/>
          </p:cNvSpPr>
          <p:nvPr>
            <p:ph idx="1"/>
          </p:nvPr>
        </p:nvSpPr>
        <p:spPr>
          <a:xfrm>
            <a:off x="136742" y="662781"/>
            <a:ext cx="10515600" cy="4351338"/>
          </a:xfrm>
        </p:spPr>
        <p:txBody>
          <a:bodyPr>
            <a:normAutofit/>
          </a:bodyPr>
          <a:lstStyle/>
          <a:p>
            <a:pPr marL="0" indent="0">
              <a:lnSpc>
                <a:spcPct val="200000"/>
              </a:lnSpc>
              <a:buNone/>
            </a:pPr>
            <a:r>
              <a:rPr lang="en-US" sz="2000" dirty="0">
                <a:latin typeface="Times New Roman" panose="02020603050405020304" pitchFamily="18" charset="0"/>
                <a:cs typeface="Times New Roman" panose="02020603050405020304" pitchFamily="18" charset="0"/>
              </a:rPr>
              <a:t>In star topology each device in the network is connected to a central device called </a:t>
            </a:r>
            <a:r>
              <a:rPr lang="en-US" sz="2000" b="1" dirty="0">
                <a:latin typeface="Times New Roman" panose="02020603050405020304" pitchFamily="18" charset="0"/>
                <a:cs typeface="Times New Roman" panose="02020603050405020304" pitchFamily="18" charset="0"/>
              </a:rPr>
              <a:t>hub</a:t>
            </a:r>
            <a:r>
              <a:rPr lang="en-US" sz="2000" dirty="0">
                <a:latin typeface="Times New Roman" panose="02020603050405020304" pitchFamily="18" charset="0"/>
                <a:cs typeface="Times New Roman" panose="02020603050405020304" pitchFamily="18" charset="0"/>
              </a:rPr>
              <a:t>. Unlike Mesh topology, star topology doesn’t allow direct communication between devices, a device must have to communicate through hub. If one device wants to send data to other device, it has to first send the data to hub and then the hub transmit that data to the designated device.</a:t>
            </a:r>
          </a:p>
          <a:p>
            <a:endParaRPr lang="en-US"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554" y="3247468"/>
            <a:ext cx="5715000" cy="3810000"/>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39</a:t>
            </a:fld>
            <a:endParaRPr lang="en-US"/>
          </a:p>
        </p:txBody>
      </p:sp>
    </p:spTree>
    <p:extLst>
      <p:ext uri="{BB962C8B-B14F-4D97-AF65-F5344CB8AC3E}">
        <p14:creationId xmlns:p14="http://schemas.microsoft.com/office/powerpoint/2010/main" val="373836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2003" y="409488"/>
            <a:ext cx="11597488" cy="6139094"/>
          </a:xfrm>
        </p:spPr>
        <p:txBody>
          <a:bodyPr>
            <a:normAutofit/>
          </a:bodyPr>
          <a:lstStyle/>
          <a:p>
            <a:pPr marL="0" indent="0" algn="ctr">
              <a:buNone/>
            </a:pPr>
            <a:r>
              <a:rPr lang="en-US" sz="3200" b="1" dirty="0">
                <a:latin typeface="Times New Roman" panose="02020603050405020304" pitchFamily="18" charset="0"/>
                <a:cs typeface="Times New Roman" panose="02020603050405020304" pitchFamily="18" charset="0"/>
              </a:rPr>
              <a:t>Advantages of Star topology</a:t>
            </a:r>
          </a:p>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Less expensive because each device only need one I/O port and needs to be connected with hub       with one link.</a:t>
            </a:r>
          </a:p>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Easier to install</a:t>
            </a:r>
          </a:p>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Less amount of cables required because each device needs to be connected with the hub only.</a:t>
            </a:r>
          </a:p>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Robust, if one link fails, other links will work just fine.</a:t>
            </a:r>
          </a:p>
          <a:p>
            <a:pPr marL="514350" indent="-514350">
              <a:buFont typeface="+mj-lt"/>
              <a:buAutoNum type="arabicPeriod"/>
            </a:pPr>
            <a:r>
              <a:rPr lang="en-US" sz="2200" dirty="0">
                <a:latin typeface="Times New Roman" panose="02020603050405020304" pitchFamily="18" charset="0"/>
                <a:cs typeface="Times New Roman" panose="02020603050405020304" pitchFamily="18" charset="0"/>
              </a:rPr>
              <a:t>Easy fault detection because the link can be easily identified.</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sz="3200" b="1" dirty="0">
                <a:latin typeface="Times New Roman" panose="02020603050405020304" pitchFamily="18" charset="0"/>
                <a:cs typeface="Times New Roman" panose="02020603050405020304" pitchFamily="18" charset="0"/>
              </a:rPr>
              <a:t>Disadvantages of Star topology</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If hub goes down everything goes down, none of the devices can work without hub.</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Hub requires more resources and regular maintenance because it is the central system of star topology.</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40</a:t>
            </a:fld>
            <a:endParaRPr lang="en-US"/>
          </a:p>
        </p:txBody>
      </p:sp>
    </p:spTree>
    <p:extLst>
      <p:ext uri="{BB962C8B-B14F-4D97-AF65-F5344CB8AC3E}">
        <p14:creationId xmlns:p14="http://schemas.microsoft.com/office/powerpoint/2010/main" val="3149665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8449" y="252918"/>
            <a:ext cx="10515600" cy="652565"/>
          </a:xfrm>
        </p:spPr>
        <p:txBody>
          <a:bodyPr>
            <a:normAutofit/>
          </a:bodyPr>
          <a:lstStyle/>
          <a:p>
            <a:pPr algn="ctr"/>
            <a:r>
              <a:rPr lang="en-US" sz="3200" b="1" dirty="0">
                <a:latin typeface="Arial Black" panose="020B0A04020102020204" pitchFamily="34" charset="0"/>
              </a:rPr>
              <a:t>Hybrid</a:t>
            </a:r>
          </a:p>
        </p:txBody>
      </p:sp>
      <p:sp>
        <p:nvSpPr>
          <p:cNvPr id="3" name="Content Placeholder 2"/>
          <p:cNvSpPr>
            <a:spLocks noGrp="1"/>
          </p:cNvSpPr>
          <p:nvPr>
            <p:ph idx="1"/>
          </p:nvPr>
        </p:nvSpPr>
        <p:spPr>
          <a:xfrm>
            <a:off x="0" y="1111642"/>
            <a:ext cx="12192000" cy="5746358"/>
          </a:xfrm>
        </p:spPr>
        <p:txBody>
          <a:bodyPr>
            <a:normAutofit fontScale="55000" lnSpcReduction="20000"/>
          </a:bodyPr>
          <a:lstStyle/>
          <a:p>
            <a:pPr marL="0" indent="0">
              <a:buNone/>
            </a:pPr>
            <a:r>
              <a:rPr lang="en-US" sz="3300" dirty="0"/>
              <a:t>A combination of two or more topology is known as hybrid topology. For example a combination of star and mesh topology is known as hybrid topology.</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pPr marL="0" indent="0" algn="ctr">
              <a:buNone/>
            </a:pPr>
            <a:r>
              <a:rPr lang="en-US" sz="3600" b="1" dirty="0"/>
              <a:t>Advantages of Hybrid topology</a:t>
            </a:r>
          </a:p>
          <a:p>
            <a:pPr marL="514350" indent="-514350">
              <a:buFont typeface="+mj-lt"/>
              <a:buAutoNum type="arabicPeriod"/>
            </a:pPr>
            <a:r>
              <a:rPr lang="en-US" sz="3300" dirty="0"/>
              <a:t>We can choose the topology based on the requirement for example, scalability is our concern then we can use star topology instead of bus technology.</a:t>
            </a:r>
          </a:p>
          <a:p>
            <a:pPr marL="514350" indent="-514350">
              <a:buFont typeface="+mj-lt"/>
              <a:buAutoNum type="arabicPeriod"/>
            </a:pPr>
            <a:r>
              <a:rPr lang="en-US" sz="3300" dirty="0"/>
              <a:t>Scalable as we can further connect other computer networks with the existing networks with different topologies.</a:t>
            </a:r>
          </a:p>
          <a:p>
            <a:endParaRPr lang="en-US" dirty="0"/>
          </a:p>
          <a:p>
            <a:pPr marL="0" indent="0">
              <a:buNone/>
            </a:pPr>
            <a:endParaRPr lang="en-US" dirty="0"/>
          </a:p>
          <a:p>
            <a:pPr marL="0" indent="0" algn="ctr">
              <a:buNone/>
            </a:pPr>
            <a:r>
              <a:rPr lang="en-US" sz="3600" b="1" dirty="0"/>
              <a:t>Disadvantages of Hybrid topology</a:t>
            </a:r>
          </a:p>
          <a:p>
            <a:pPr marL="514350" indent="-514350">
              <a:buFont typeface="+mj-lt"/>
              <a:buAutoNum type="arabicPeriod"/>
            </a:pPr>
            <a:r>
              <a:rPr lang="en-US" sz="3300" dirty="0"/>
              <a:t>Fault detection is difficult.</a:t>
            </a:r>
          </a:p>
          <a:p>
            <a:pPr marL="514350" indent="-514350">
              <a:buFont typeface="+mj-lt"/>
              <a:buAutoNum type="arabicPeriod"/>
            </a:pPr>
            <a:r>
              <a:rPr lang="en-US" sz="3300" dirty="0"/>
              <a:t>Installation is difficult.</a:t>
            </a:r>
          </a:p>
          <a:p>
            <a:pPr marL="514350" indent="-514350">
              <a:buFont typeface="+mj-lt"/>
              <a:buAutoNum type="arabicPeriod"/>
            </a:pPr>
            <a:r>
              <a:rPr lang="en-US" sz="3300" dirty="0"/>
              <a:t>Design is complex so maintenance is high thus expensive</a:t>
            </a:r>
            <a:r>
              <a:rPr lang="en-US" dirty="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6948" y="1480524"/>
            <a:ext cx="4857749" cy="2264757"/>
          </a:xfrm>
          <a:prstGeom prst="rect">
            <a:avLst/>
          </a:prstGeom>
        </p:spPr>
      </p:pic>
      <p:sp>
        <p:nvSpPr>
          <p:cNvPr id="5" name="Slide Number Placeholder 4"/>
          <p:cNvSpPr>
            <a:spLocks noGrp="1"/>
          </p:cNvSpPr>
          <p:nvPr>
            <p:ph type="sldNum" sz="quarter" idx="12"/>
          </p:nvPr>
        </p:nvSpPr>
        <p:spPr/>
        <p:txBody>
          <a:bodyPr/>
          <a:lstStyle/>
          <a:p>
            <a:fld id="{9426EEF7-B005-4926-9DF9-6CB0296B93C6}" type="slidenum">
              <a:rPr lang="en-US" smtClean="0"/>
              <a:t>41</a:t>
            </a:fld>
            <a:endParaRPr lang="en-US"/>
          </a:p>
        </p:txBody>
      </p:sp>
    </p:spTree>
    <p:extLst>
      <p:ext uri="{BB962C8B-B14F-4D97-AF65-F5344CB8AC3E}">
        <p14:creationId xmlns:p14="http://schemas.microsoft.com/office/powerpoint/2010/main" val="1411733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29820"/>
          </a:xfrm>
        </p:spPr>
        <p:txBody>
          <a:bodyPr>
            <a:noAutofit/>
          </a:bodyPr>
          <a:lstStyle/>
          <a:p>
            <a:pPr algn="ctr"/>
            <a:r>
              <a:rPr lang="en-US" sz="2800" b="1" dirty="0">
                <a:latin typeface="Arial Black" panose="020B0A04020102020204" pitchFamily="34" charset="0"/>
              </a:rPr>
              <a:t>Mesh</a:t>
            </a:r>
          </a:p>
        </p:txBody>
      </p:sp>
      <p:sp>
        <p:nvSpPr>
          <p:cNvPr id="3" name="Content Placeholder 2"/>
          <p:cNvSpPr>
            <a:spLocks noGrp="1"/>
          </p:cNvSpPr>
          <p:nvPr>
            <p:ph idx="1"/>
          </p:nvPr>
        </p:nvSpPr>
        <p:spPr>
          <a:xfrm>
            <a:off x="282102" y="817123"/>
            <a:ext cx="11605098" cy="5539227"/>
          </a:xfrm>
        </p:spPr>
        <p:txBody>
          <a:bodyPr>
            <a:norm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In mesh topology each device is connected to every other device on the network through a dedicated point-to-point link. When we say dedicated it means that the link only carries data for the two connected devices only. Lets say we have devices in the network then each device must be connected with (n-1) devices of the network.</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500" y="3530253"/>
            <a:ext cx="5715000" cy="3022947"/>
          </a:xfrm>
          <a:prstGeom prst="rect">
            <a:avLst/>
          </a:prstGeom>
        </p:spPr>
      </p:pic>
      <p:sp>
        <p:nvSpPr>
          <p:cNvPr id="4" name="Slide Number Placeholder 3"/>
          <p:cNvSpPr>
            <a:spLocks noGrp="1"/>
          </p:cNvSpPr>
          <p:nvPr>
            <p:ph type="sldNum" sz="quarter" idx="12"/>
          </p:nvPr>
        </p:nvSpPr>
        <p:spPr/>
        <p:txBody>
          <a:bodyPr/>
          <a:lstStyle/>
          <a:p>
            <a:fld id="{9426EEF7-B005-4926-9DF9-6CB0296B93C6}" type="slidenum">
              <a:rPr lang="en-US" smtClean="0"/>
              <a:t>42</a:t>
            </a:fld>
            <a:endParaRPr lang="en-US"/>
          </a:p>
        </p:txBody>
      </p:sp>
    </p:spTree>
    <p:extLst>
      <p:ext uri="{BB962C8B-B14F-4D97-AF65-F5344CB8AC3E}">
        <p14:creationId xmlns:p14="http://schemas.microsoft.com/office/powerpoint/2010/main" val="140645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fontScale="62500" lnSpcReduction="20000"/>
          </a:bodyPr>
          <a:lstStyle/>
          <a:p>
            <a:pPr marL="0" indent="0" algn="ctr">
              <a:buNone/>
            </a:pPr>
            <a:r>
              <a:rPr lang="en-US" sz="3800" b="1" dirty="0">
                <a:latin typeface="Arial Black" panose="020B0A04020102020204" pitchFamily="34" charset="0"/>
                <a:cs typeface="Times New Roman" panose="02020603050405020304" pitchFamily="18" charset="0"/>
              </a:rPr>
              <a:t>Advantages of Mesh topology</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No data traffic issues as there is a dedicated link between two devices which means the link is only available for those two devices.</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Mesh topology is reliable and robust as failure of one link doesn’t affect other links and the communication between other devices on the network.</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Mesh topology is secure because there is a point to point link thus unauthorized access is not possible.</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Fault detection is easy.</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sz="3800" b="1" dirty="0">
                <a:latin typeface="Arial Black" panose="020B0A04020102020204" pitchFamily="34" charset="0"/>
                <a:cs typeface="Times New Roman" panose="02020603050405020304" pitchFamily="18" charset="0"/>
              </a:rPr>
              <a:t>Disadvantages of Mesh topology</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Amount of wires required to connected each system is tedious and headache.</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Since each device needs to be connected with other devices, number of I/O ports required must be huge.</a:t>
            </a:r>
          </a:p>
          <a:p>
            <a:pPr marL="514350" indent="-514350">
              <a:lnSpc>
                <a:spcPct val="170000"/>
              </a:lnSpc>
              <a:buFont typeface="+mj-lt"/>
              <a:buAutoNum type="arabicPeriod"/>
            </a:pPr>
            <a:r>
              <a:rPr lang="en-US" dirty="0">
                <a:latin typeface="Times New Roman" panose="02020603050405020304" pitchFamily="18" charset="0"/>
                <a:cs typeface="Times New Roman" panose="02020603050405020304" pitchFamily="18" charset="0"/>
              </a:rPr>
              <a:t>Scalability issues because a device cannot be connected with large number of devices with a dedicated point to point link.</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43</a:t>
            </a:fld>
            <a:endParaRPr lang="en-US"/>
          </a:p>
        </p:txBody>
      </p:sp>
    </p:spTree>
    <p:extLst>
      <p:ext uri="{BB962C8B-B14F-4D97-AF65-F5344CB8AC3E}">
        <p14:creationId xmlns:p14="http://schemas.microsoft.com/office/powerpoint/2010/main" val="17222876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32366-2CFA-5E89-1A20-414423C5B646}"/>
              </a:ext>
            </a:extLst>
          </p:cNvPr>
          <p:cNvSpPr>
            <a:spLocks noGrp="1"/>
          </p:cNvSpPr>
          <p:nvPr>
            <p:ph type="title"/>
          </p:nvPr>
        </p:nvSpPr>
        <p:spPr>
          <a:xfrm>
            <a:off x="838200" y="3119210"/>
            <a:ext cx="10515600" cy="1325563"/>
          </a:xfrm>
        </p:spPr>
        <p:txBody>
          <a:bodyPr>
            <a:noAutofit/>
          </a:bodyPr>
          <a:lstStyle/>
          <a:p>
            <a:pPr algn="ctr"/>
            <a:r>
              <a:rPr lang="en-US" sz="6000" b="1" i="0" dirty="0">
                <a:solidFill>
                  <a:srgbClr val="273239"/>
                </a:solidFill>
                <a:effectLst/>
                <a:latin typeface="Arial Black" panose="020B0A04020102020204" pitchFamily="34" charset="0"/>
              </a:rPr>
              <a:t>OSI and TCP/IP Model</a:t>
            </a:r>
            <a:r>
              <a:rPr lang="en-US" sz="2000" b="1" i="0" dirty="0">
                <a:solidFill>
                  <a:srgbClr val="273239"/>
                </a:solidFill>
                <a:effectLst/>
                <a:latin typeface="Arial Black" panose="020B0A04020102020204" pitchFamily="34" charset="0"/>
              </a:rPr>
              <a:t>.</a:t>
            </a:r>
            <a:endParaRPr lang="en-US" sz="6000" b="1" dirty="0">
              <a:latin typeface="Arial Black" panose="020B0A04020102020204" pitchFamily="34" charset="0"/>
            </a:endParaRPr>
          </a:p>
        </p:txBody>
      </p:sp>
      <p:sp>
        <p:nvSpPr>
          <p:cNvPr id="4" name="Slide Number Placeholder 3">
            <a:extLst>
              <a:ext uri="{FF2B5EF4-FFF2-40B4-BE49-F238E27FC236}">
                <a16:creationId xmlns:a16="http://schemas.microsoft.com/office/drawing/2014/main" id="{2C80A5C2-D6D6-95EF-298B-CE6933D52FC9}"/>
              </a:ext>
            </a:extLst>
          </p:cNvPr>
          <p:cNvSpPr>
            <a:spLocks noGrp="1"/>
          </p:cNvSpPr>
          <p:nvPr>
            <p:ph type="sldNum" sz="quarter" idx="12"/>
          </p:nvPr>
        </p:nvSpPr>
        <p:spPr/>
        <p:txBody>
          <a:bodyPr/>
          <a:lstStyle/>
          <a:p>
            <a:fld id="{9426EEF7-B005-4926-9DF9-6CB0296B93C6}" type="slidenum">
              <a:rPr lang="en-US" smtClean="0"/>
              <a:t>44</a:t>
            </a:fld>
            <a:endParaRPr lang="en-US"/>
          </a:p>
        </p:txBody>
      </p:sp>
    </p:spTree>
    <p:extLst>
      <p:ext uri="{BB962C8B-B14F-4D97-AF65-F5344CB8AC3E}">
        <p14:creationId xmlns:p14="http://schemas.microsoft.com/office/powerpoint/2010/main" val="21743979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a:bodyPr>
          <a:lstStyle/>
          <a:p>
            <a:pPr marL="0" indent="0" algn="ctr">
              <a:buNone/>
            </a:pPr>
            <a:r>
              <a:rPr lang="en-US" sz="3600" b="1" i="0" dirty="0">
                <a:solidFill>
                  <a:srgbClr val="273239"/>
                </a:solidFill>
                <a:effectLst/>
                <a:latin typeface="Arial Rounded MT Bold" panose="020F0704030504030204" pitchFamily="34" charset="0"/>
              </a:rPr>
              <a:t>OSI and TCP/IP Model.</a:t>
            </a:r>
          </a:p>
          <a:p>
            <a:pPr marL="0" indent="0" algn="ctr">
              <a:buNone/>
            </a:pPr>
            <a:endParaRPr lang="en-US" sz="3600" b="1" i="1" dirty="0">
              <a:solidFill>
                <a:srgbClr val="273239"/>
              </a:solidFill>
              <a:effectLst/>
              <a:latin typeface="Arial Rounded MT Bold" panose="020F0704030504030204" pitchFamily="34" charset="0"/>
              <a:cs typeface="Times New Roman" panose="02020603050405020304" pitchFamily="18" charset="0"/>
            </a:endParaRPr>
          </a:p>
          <a:p>
            <a:pPr>
              <a:lnSpc>
                <a:spcPct val="150000"/>
              </a:lnSpc>
            </a:pPr>
            <a:r>
              <a:rPr lang="en-US" sz="2000" b="1" i="1" dirty="0">
                <a:solidFill>
                  <a:srgbClr val="273239"/>
                </a:solidFill>
                <a:effectLst/>
                <a:latin typeface="Times New Roman" panose="02020603050405020304" pitchFamily="18" charset="0"/>
                <a:cs typeface="Times New Roman" panose="02020603050405020304" pitchFamily="18" charset="0"/>
              </a:rPr>
              <a:t>OSI</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1" dirty="0">
                <a:solidFill>
                  <a:srgbClr val="273239"/>
                </a:solidFill>
                <a:effectLst/>
                <a:latin typeface="Times New Roman" panose="02020603050405020304" pitchFamily="18" charset="0"/>
                <a:cs typeface="Times New Roman" panose="02020603050405020304" pitchFamily="18" charset="0"/>
              </a:rPr>
              <a:t>TCP/IP </a:t>
            </a:r>
            <a:r>
              <a:rPr lang="en-US" sz="2000" b="0" i="0" dirty="0">
                <a:solidFill>
                  <a:srgbClr val="273239"/>
                </a:solidFill>
                <a:effectLst/>
                <a:latin typeface="Times New Roman" panose="02020603050405020304" pitchFamily="18" charset="0"/>
                <a:cs typeface="Times New Roman" panose="02020603050405020304" pitchFamily="18" charset="0"/>
              </a:rPr>
              <a:t>are both logical models. One of the main similarities between the OSI and TCP/IP models is that they both describe how information is transmitted between two devices across a network.</a:t>
            </a:r>
          </a:p>
          <a:p>
            <a:pPr>
              <a:lnSpc>
                <a:spcPct val="150000"/>
              </a:lnSpc>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OS I Model:</a:t>
            </a:r>
            <a:r>
              <a:rPr lang="en-US" sz="2000" b="0" i="0" dirty="0">
                <a:solidFill>
                  <a:srgbClr val="273239"/>
                </a:solidFill>
                <a:effectLst/>
                <a:latin typeface="Times New Roman" panose="02020603050405020304" pitchFamily="18" charset="0"/>
                <a:cs typeface="Times New Roman" panose="02020603050405020304" pitchFamily="18" charset="0"/>
              </a:rPr>
              <a:t> It has 7 layers </a:t>
            </a:r>
            <a:r>
              <a:rPr lang="en-US" sz="2000" b="1" i="0" dirty="0">
                <a:solidFill>
                  <a:srgbClr val="FF0000"/>
                </a:solidFill>
                <a:effectLst/>
                <a:latin typeface="Times New Roman" panose="02020603050405020304" pitchFamily="18" charset="0"/>
                <a:cs typeface="Times New Roman" panose="02020603050405020304" pitchFamily="18" charset="0"/>
              </a:rPr>
              <a:t>Physical layer</a:t>
            </a:r>
            <a:r>
              <a:rPr lang="en-US" sz="2000" b="1" i="0" dirty="0">
                <a:effectLst/>
                <a:latin typeface="Times New Roman" panose="02020603050405020304" pitchFamily="18" charset="0"/>
                <a:cs typeface="Times New Roman" panose="02020603050405020304" pitchFamily="18" charset="0"/>
              </a:rPr>
              <a:t>,</a:t>
            </a:r>
            <a:r>
              <a:rPr lang="en-US" sz="2000" b="1" i="0" dirty="0">
                <a:solidFill>
                  <a:srgbClr val="FF0000"/>
                </a:solidFill>
                <a:effectLst/>
                <a:latin typeface="Times New Roman" panose="02020603050405020304" pitchFamily="18" charset="0"/>
                <a:cs typeface="Times New Roman" panose="02020603050405020304" pitchFamily="18" charset="0"/>
              </a:rPr>
              <a:t> Data Link layer</a:t>
            </a:r>
            <a:r>
              <a:rPr lang="en-US" sz="2000" b="1" i="0" dirty="0">
                <a:effectLst/>
                <a:latin typeface="Times New Roman" panose="02020603050405020304" pitchFamily="18" charset="0"/>
                <a:cs typeface="Times New Roman" panose="02020603050405020304" pitchFamily="18" charset="0"/>
              </a:rPr>
              <a:t>,</a:t>
            </a:r>
            <a:r>
              <a:rPr lang="en-US" sz="2000" b="1" i="0" dirty="0">
                <a:solidFill>
                  <a:srgbClr val="FF0000"/>
                </a:solidFill>
                <a:effectLst/>
                <a:latin typeface="Times New Roman" panose="02020603050405020304" pitchFamily="18" charset="0"/>
                <a:cs typeface="Times New Roman" panose="02020603050405020304" pitchFamily="18" charset="0"/>
              </a:rPr>
              <a:t> Network layer</a:t>
            </a:r>
            <a:r>
              <a:rPr lang="en-US" sz="2000" b="1" i="0" dirty="0">
                <a:effectLst/>
                <a:latin typeface="Times New Roman" panose="02020603050405020304" pitchFamily="18" charset="0"/>
                <a:cs typeface="Times New Roman" panose="02020603050405020304" pitchFamily="18" charset="0"/>
              </a:rPr>
              <a:t>, </a:t>
            </a:r>
            <a:r>
              <a:rPr lang="en-US" sz="2000" b="1" i="0" dirty="0">
                <a:solidFill>
                  <a:srgbClr val="FF0000"/>
                </a:solidFill>
                <a:effectLst/>
                <a:latin typeface="Times New Roman" panose="02020603050405020304" pitchFamily="18" charset="0"/>
                <a:cs typeface="Times New Roman" panose="02020603050405020304" pitchFamily="18" charset="0"/>
              </a:rPr>
              <a:t>Transport layer, Session layer</a:t>
            </a:r>
            <a:r>
              <a:rPr lang="en-US" sz="2000" b="1" i="0" dirty="0">
                <a:effectLst/>
                <a:latin typeface="Times New Roman" panose="02020603050405020304" pitchFamily="18" charset="0"/>
                <a:cs typeface="Times New Roman" panose="02020603050405020304" pitchFamily="18" charset="0"/>
              </a:rPr>
              <a:t>,</a:t>
            </a:r>
            <a:r>
              <a:rPr lang="en-US" sz="2000" b="1" i="0" dirty="0">
                <a:solidFill>
                  <a:srgbClr val="FF0000"/>
                </a:solidFill>
                <a:effectLst/>
                <a:latin typeface="Times New Roman" panose="02020603050405020304" pitchFamily="18" charset="0"/>
                <a:cs typeface="Times New Roman" panose="02020603050405020304" pitchFamily="18" charset="0"/>
              </a:rPr>
              <a:t> Presentation layer</a:t>
            </a:r>
            <a:r>
              <a:rPr lang="en-US" sz="2000" b="1" i="0" dirty="0">
                <a:effectLst/>
                <a:latin typeface="Times New Roman" panose="02020603050405020304" pitchFamily="18" charset="0"/>
                <a:cs typeface="Times New Roman" panose="02020603050405020304" pitchFamily="18" charset="0"/>
              </a:rPr>
              <a:t>,</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0" dirty="0">
                <a:solidFill>
                  <a:srgbClr val="FF0000"/>
                </a:solidFill>
                <a:effectLst/>
                <a:latin typeface="Times New Roman" panose="02020603050405020304" pitchFamily="18" charset="0"/>
                <a:cs typeface="Times New Roman" panose="02020603050405020304" pitchFamily="18" charset="0"/>
              </a:rPr>
              <a:t>Application layer</a:t>
            </a:r>
            <a:r>
              <a:rPr lang="en-US" sz="2000" b="0" i="0" dirty="0">
                <a:solidFill>
                  <a:srgbClr val="273239"/>
                </a:solidFill>
                <a:effectLst/>
                <a:latin typeface="Times New Roman" panose="02020603050405020304" pitchFamily="18" charset="0"/>
                <a:cs typeface="Times New Roman" panose="02020603050405020304" pitchFamily="18" charset="0"/>
              </a:rPr>
              <a:t>. Each layer performs its task independently.</a:t>
            </a:r>
          </a:p>
          <a:p>
            <a:pPr algn="l" fontAlgn="base">
              <a:lnSpc>
                <a:spcPct val="150000"/>
              </a:lnSpc>
              <a:buFont typeface="Arial" panose="020B0604020202020204" pitchFamily="34" charset="0"/>
              <a:buChar char="•"/>
            </a:pP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lnSpc>
                <a:spcPct val="150000"/>
              </a:lnSpc>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TCP/IP Model:</a:t>
            </a:r>
            <a:r>
              <a:rPr lang="en-US" sz="2000" b="0" i="0" dirty="0">
                <a:solidFill>
                  <a:srgbClr val="273239"/>
                </a:solidFill>
                <a:effectLst/>
                <a:latin typeface="Times New Roman" panose="02020603050405020304" pitchFamily="18" charset="0"/>
                <a:cs typeface="Times New Roman" panose="02020603050405020304" pitchFamily="18" charset="0"/>
              </a:rPr>
              <a:t> It has 5 layers named as </a:t>
            </a:r>
            <a:r>
              <a:rPr lang="en-US" sz="2000" b="1" i="0" dirty="0">
                <a:solidFill>
                  <a:srgbClr val="C00000"/>
                </a:solidFill>
                <a:effectLst/>
                <a:latin typeface="Times New Roman" panose="02020603050405020304" pitchFamily="18" charset="0"/>
                <a:cs typeface="Times New Roman" panose="02020603050405020304" pitchFamily="18" charset="0"/>
              </a:rPr>
              <a:t>Physical layer, Data Link Layer, Network layer, Transport layer,</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0" dirty="0">
                <a:solidFill>
                  <a:srgbClr val="C00000"/>
                </a:solidFill>
                <a:effectLst/>
                <a:latin typeface="Times New Roman" panose="02020603050405020304" pitchFamily="18" charset="0"/>
                <a:cs typeface="Times New Roman" panose="02020603050405020304" pitchFamily="18" charset="0"/>
              </a:rPr>
              <a:t>Application layer</a:t>
            </a:r>
            <a:r>
              <a:rPr lang="en-US" sz="2000" b="0" i="0" dirty="0">
                <a:solidFill>
                  <a:srgbClr val="273239"/>
                </a:solidFill>
                <a:effectLst/>
                <a:latin typeface="Times New Roman" panose="02020603050405020304" pitchFamily="18" charset="0"/>
                <a:cs typeface="Times New Roman" panose="02020603050405020304" pitchFamily="18" charset="0"/>
              </a:rPr>
              <a:t>.  It can also be used as a communications protocol in a private computer network.</a:t>
            </a:r>
          </a:p>
          <a:p>
            <a:endParaRPr lang="en-US" sz="24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45</a:t>
            </a:fld>
            <a:endParaRPr lang="en-US"/>
          </a:p>
        </p:txBody>
      </p:sp>
    </p:spTree>
    <p:extLst>
      <p:ext uri="{BB962C8B-B14F-4D97-AF65-F5344CB8AC3E}">
        <p14:creationId xmlns:p14="http://schemas.microsoft.com/office/powerpoint/2010/main" val="15526092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EEFFBE-8D7F-5A15-0B73-D50798A0FCD5}"/>
              </a:ext>
            </a:extLst>
          </p:cNvPr>
          <p:cNvPicPr>
            <a:picLocks noGrp="1" noChangeAspect="1"/>
          </p:cNvPicPr>
          <p:nvPr>
            <p:ph idx="1"/>
          </p:nvPr>
        </p:nvPicPr>
        <p:blipFill>
          <a:blip r:embed="rId2"/>
          <a:stretch>
            <a:fillRect/>
          </a:stretch>
        </p:blipFill>
        <p:spPr>
          <a:xfrm>
            <a:off x="250371" y="278043"/>
            <a:ext cx="11691257" cy="5845629"/>
          </a:xfrm>
          <a:prstGeom prst="rect">
            <a:avLst/>
          </a:prstGeom>
        </p:spPr>
      </p:pic>
      <p:sp>
        <p:nvSpPr>
          <p:cNvPr id="2" name="Slide Number Placeholder 1"/>
          <p:cNvSpPr>
            <a:spLocks noGrp="1"/>
          </p:cNvSpPr>
          <p:nvPr>
            <p:ph type="sldNum" sz="quarter" idx="12"/>
          </p:nvPr>
        </p:nvSpPr>
        <p:spPr/>
        <p:txBody>
          <a:bodyPr/>
          <a:lstStyle/>
          <a:p>
            <a:fld id="{9426EEF7-B005-4926-9DF9-6CB0296B93C6}" type="slidenum">
              <a:rPr lang="en-US" smtClean="0"/>
              <a:t>46</a:t>
            </a:fld>
            <a:endParaRPr lang="en-US"/>
          </a:p>
        </p:txBody>
      </p:sp>
    </p:spTree>
    <p:extLst>
      <p:ext uri="{BB962C8B-B14F-4D97-AF65-F5344CB8AC3E}">
        <p14:creationId xmlns:p14="http://schemas.microsoft.com/office/powerpoint/2010/main" val="18214322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fontScale="92500" lnSpcReduction="10000"/>
          </a:bodyPr>
          <a:lstStyle/>
          <a:p>
            <a:pPr marL="0" indent="0" algn="ctr" fontAlgn="base">
              <a:buNone/>
            </a:pPr>
            <a:r>
              <a:rPr lang="en-US" sz="3200" b="1" i="0" dirty="0">
                <a:solidFill>
                  <a:srgbClr val="273239"/>
                </a:solidFill>
                <a:effectLst/>
                <a:latin typeface="Arial Black" panose="020B0A04020102020204" pitchFamily="34" charset="0"/>
              </a:rPr>
              <a:t>OSI Model</a:t>
            </a:r>
          </a:p>
          <a:p>
            <a:pPr marL="0" indent="0" algn="l" rtl="0" fontAlgn="base">
              <a:lnSpc>
                <a:spcPct val="150000"/>
              </a:lnSpc>
              <a:buNone/>
            </a:pPr>
            <a:r>
              <a:rPr lang="en-US" sz="2000" b="0" i="0" dirty="0">
                <a:solidFill>
                  <a:srgbClr val="273239"/>
                </a:solidFill>
                <a:effectLst/>
                <a:latin typeface="Times New Roman" panose="02020603050405020304" pitchFamily="18" charset="0"/>
                <a:cs typeface="Times New Roman" panose="02020603050405020304" pitchFamily="18" charset="0"/>
              </a:rPr>
              <a:t>The </a:t>
            </a:r>
            <a:r>
              <a:rPr lang="en-US" sz="2000" b="1" i="0" dirty="0">
                <a:solidFill>
                  <a:srgbClr val="273239"/>
                </a:solidFill>
                <a:effectLst/>
                <a:latin typeface="Times New Roman" panose="02020603050405020304" pitchFamily="18" charset="0"/>
                <a:cs typeface="Times New Roman" panose="02020603050405020304" pitchFamily="18" charset="0"/>
              </a:rPr>
              <a:t>OSI</a:t>
            </a:r>
            <a:r>
              <a:rPr lang="en-US" sz="2000" b="0" i="0" dirty="0">
                <a:solidFill>
                  <a:srgbClr val="273239"/>
                </a:solidFill>
                <a:effectLst/>
                <a:latin typeface="Times New Roman" panose="02020603050405020304" pitchFamily="18" charset="0"/>
                <a:cs typeface="Times New Roman" panose="02020603050405020304" pitchFamily="18" charset="0"/>
              </a:rPr>
              <a:t> (</a:t>
            </a:r>
            <a:r>
              <a:rPr lang="en-US" sz="2000" b="1" i="0" dirty="0">
                <a:solidFill>
                  <a:srgbClr val="273239"/>
                </a:solidFill>
                <a:effectLst/>
                <a:latin typeface="Times New Roman" panose="02020603050405020304" pitchFamily="18" charset="0"/>
                <a:cs typeface="Times New Roman" panose="02020603050405020304" pitchFamily="18" charset="0"/>
              </a:rPr>
              <a:t>O</a:t>
            </a:r>
            <a:r>
              <a:rPr lang="en-US" sz="2000" b="0" i="0" dirty="0">
                <a:solidFill>
                  <a:srgbClr val="273239"/>
                </a:solidFill>
                <a:effectLst/>
                <a:latin typeface="Times New Roman" panose="02020603050405020304" pitchFamily="18" charset="0"/>
                <a:cs typeface="Times New Roman" panose="02020603050405020304" pitchFamily="18" charset="0"/>
              </a:rPr>
              <a:t>pen </a:t>
            </a:r>
            <a:r>
              <a:rPr lang="en-US" sz="2000" b="1" i="0" dirty="0">
                <a:solidFill>
                  <a:srgbClr val="273239"/>
                </a:solidFill>
                <a:effectLst/>
                <a:latin typeface="Times New Roman" panose="02020603050405020304" pitchFamily="18" charset="0"/>
                <a:cs typeface="Times New Roman" panose="02020603050405020304" pitchFamily="18" charset="0"/>
              </a:rPr>
              <a:t>S</a:t>
            </a:r>
            <a:r>
              <a:rPr lang="en-US" sz="2000" b="0" i="0" dirty="0">
                <a:solidFill>
                  <a:srgbClr val="273239"/>
                </a:solidFill>
                <a:effectLst/>
                <a:latin typeface="Times New Roman" panose="02020603050405020304" pitchFamily="18" charset="0"/>
                <a:cs typeface="Times New Roman" panose="02020603050405020304" pitchFamily="18" charset="0"/>
              </a:rPr>
              <a:t>ystems </a:t>
            </a:r>
            <a:r>
              <a:rPr lang="en-US" sz="2000" b="1" i="0" dirty="0">
                <a:solidFill>
                  <a:srgbClr val="273239"/>
                </a:solidFill>
                <a:effectLst/>
                <a:latin typeface="Times New Roman" panose="02020603050405020304" pitchFamily="18" charset="0"/>
                <a:cs typeface="Times New Roman" panose="02020603050405020304" pitchFamily="18" charset="0"/>
              </a:rPr>
              <a:t>I</a:t>
            </a:r>
            <a:r>
              <a:rPr lang="en-US" sz="2000" b="0" i="0" dirty="0">
                <a:solidFill>
                  <a:srgbClr val="273239"/>
                </a:solidFill>
                <a:effectLst/>
                <a:latin typeface="Times New Roman" panose="02020603050405020304" pitchFamily="18" charset="0"/>
                <a:cs typeface="Times New Roman" panose="02020603050405020304" pitchFamily="18" charset="0"/>
              </a:rPr>
              <a:t>nterconnection) Model is a 7-layer conceptual framework used to understand and design network communication. Each layer has a clearly defined function and works independently of the others.</a:t>
            </a:r>
          </a:p>
          <a:p>
            <a:pPr marL="0" indent="0">
              <a:buNone/>
            </a:pPr>
            <a:endParaRPr lang="en-US" b="1"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Physical Layer</a:t>
            </a:r>
          </a:p>
          <a:p>
            <a:pPr>
              <a:lnSpc>
                <a:spcPct val="150000"/>
              </a:lnSpc>
            </a:pPr>
            <a:r>
              <a:rPr lang="en-US" sz="2000" dirty="0">
                <a:latin typeface="Times New Roman" panose="02020603050405020304" pitchFamily="18" charset="0"/>
                <a:cs typeface="Times New Roman" panose="02020603050405020304" pitchFamily="18" charset="0"/>
              </a:rPr>
              <a:t>Transmits raw bits over physical media.</a:t>
            </a:r>
          </a:p>
          <a:p>
            <a:pPr>
              <a:lnSpc>
                <a:spcPct val="150000"/>
              </a:lnSpc>
            </a:pPr>
            <a:r>
              <a:rPr lang="en-US" sz="2000" dirty="0">
                <a:latin typeface="Times New Roman" panose="02020603050405020304" pitchFamily="18" charset="0"/>
                <a:cs typeface="Times New Roman" panose="02020603050405020304" pitchFamily="18" charset="0"/>
              </a:rPr>
              <a:t>Deals with cables, connectors, voltage levels, and data rates.</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Data Link Layer</a:t>
            </a:r>
          </a:p>
          <a:p>
            <a:pPr>
              <a:lnSpc>
                <a:spcPct val="150000"/>
              </a:lnSpc>
            </a:pPr>
            <a:r>
              <a:rPr lang="en-US" sz="2000" dirty="0">
                <a:latin typeface="Times New Roman" panose="02020603050405020304" pitchFamily="18" charset="0"/>
                <a:cs typeface="Times New Roman" panose="02020603050405020304" pitchFamily="18" charset="0"/>
              </a:rPr>
              <a:t>Provides node-to-node data transfer.</a:t>
            </a:r>
          </a:p>
          <a:p>
            <a:pPr>
              <a:lnSpc>
                <a:spcPct val="150000"/>
              </a:lnSpc>
            </a:pPr>
            <a:r>
              <a:rPr lang="en-US" sz="2000" dirty="0">
                <a:latin typeface="Times New Roman" panose="02020603050405020304" pitchFamily="18" charset="0"/>
                <a:cs typeface="Times New Roman" panose="02020603050405020304" pitchFamily="18" charset="0"/>
              </a:rPr>
              <a:t>Handles MAC addressing, framing, and error detection.</a:t>
            </a:r>
          </a:p>
          <a:p>
            <a:pPr marL="457200" lvl="1" indent="0">
              <a:lnSpc>
                <a:spcPct val="150000"/>
              </a:lnSpc>
              <a:buNone/>
            </a:pPr>
            <a:r>
              <a:rPr lang="en-US" sz="2000" b="1" dirty="0">
                <a:latin typeface="Times New Roman" panose="02020603050405020304" pitchFamily="18" charset="0"/>
                <a:cs typeface="Times New Roman" panose="02020603050405020304" pitchFamily="18" charset="0"/>
              </a:rPr>
              <a:t>Examples: Ethernet, ARP</a:t>
            </a:r>
          </a:p>
          <a:p>
            <a:pPr marL="0" indent="0" algn="ctr">
              <a:buNone/>
            </a:pPr>
            <a:r>
              <a:rPr lang="en-US" sz="1900" b="1" dirty="0"/>
              <a:t>Address Resolution Protocol</a:t>
            </a:r>
            <a:r>
              <a:rPr lang="en-US" sz="1900" dirty="0"/>
              <a:t>. </a:t>
            </a:r>
            <a:r>
              <a:rPr lang="en-US" sz="1700" dirty="0"/>
              <a:t>ARP helps a computer find the </a:t>
            </a:r>
            <a:r>
              <a:rPr lang="en-US" sz="1700" b="1" dirty="0"/>
              <a:t>MAC address</a:t>
            </a:r>
            <a:r>
              <a:rPr lang="en-US" sz="1700" dirty="0"/>
              <a:t> of another device when it only knows the </a:t>
            </a:r>
            <a:r>
              <a:rPr lang="en-US" sz="1700" b="1" dirty="0"/>
              <a:t>IP address</a:t>
            </a:r>
            <a:r>
              <a:rPr lang="en-US" sz="1700" dirty="0"/>
              <a:t>, inside a local network (LAN).</a:t>
            </a:r>
            <a:endParaRPr lang="en-US" sz="19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47</a:t>
            </a:fld>
            <a:endParaRPr lang="en-US"/>
          </a:p>
        </p:txBody>
      </p:sp>
    </p:spTree>
    <p:extLst>
      <p:ext uri="{BB962C8B-B14F-4D97-AF65-F5344CB8AC3E}">
        <p14:creationId xmlns:p14="http://schemas.microsoft.com/office/powerpoint/2010/main" val="13411439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Network Layer</a:t>
            </a:r>
          </a:p>
          <a:p>
            <a:r>
              <a:rPr lang="en-US" sz="2000" dirty="0">
                <a:latin typeface="Times New Roman" panose="02020603050405020304" pitchFamily="18" charset="0"/>
                <a:cs typeface="Times New Roman" panose="02020603050405020304" pitchFamily="18" charset="0"/>
              </a:rPr>
              <a:t>Responsible for logical addressing and routing</a:t>
            </a:r>
          </a:p>
          <a:p>
            <a:r>
              <a:rPr lang="en-US" sz="2000" dirty="0">
                <a:latin typeface="Times New Roman" panose="02020603050405020304" pitchFamily="18" charset="0"/>
                <a:cs typeface="Times New Roman" panose="02020603050405020304" pitchFamily="18" charset="0"/>
              </a:rPr>
              <a:t>Determines best path for data transmission</a:t>
            </a:r>
          </a:p>
          <a:p>
            <a:pPr marL="457200" lvl="1" indent="0">
              <a:buNone/>
            </a:pPr>
            <a:r>
              <a:rPr lang="en-US" sz="2000" b="1" dirty="0">
                <a:latin typeface="Times New Roman" panose="02020603050405020304" pitchFamily="18" charset="0"/>
                <a:cs typeface="Times New Roman" panose="02020603050405020304" pitchFamily="18" charset="0"/>
              </a:rPr>
              <a:t>Examples: IP, ICMP</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Transport Layer</a:t>
            </a:r>
          </a:p>
          <a:p>
            <a:r>
              <a:rPr lang="en-US" sz="2000" dirty="0">
                <a:latin typeface="Times New Roman" panose="02020603050405020304" pitchFamily="18" charset="0"/>
                <a:cs typeface="Times New Roman" panose="02020603050405020304" pitchFamily="18" charset="0"/>
              </a:rPr>
              <a:t>Ensures reliable or unreliable delivery of data</a:t>
            </a:r>
          </a:p>
          <a:p>
            <a:r>
              <a:rPr lang="en-US" sz="2000" dirty="0">
                <a:latin typeface="Times New Roman" panose="02020603050405020304" pitchFamily="18" charset="0"/>
                <a:cs typeface="Times New Roman" panose="02020603050405020304" pitchFamily="18" charset="0"/>
              </a:rPr>
              <a:t>Manages flow control and error recovery</a:t>
            </a:r>
          </a:p>
          <a:p>
            <a:pPr marL="457200" lvl="1" indent="0">
              <a:buNone/>
            </a:pPr>
            <a:r>
              <a:rPr lang="en-US" sz="2000" b="1" dirty="0">
                <a:latin typeface="Times New Roman" panose="02020603050405020304" pitchFamily="18" charset="0"/>
                <a:cs typeface="Times New Roman" panose="02020603050405020304" pitchFamily="18" charset="0"/>
              </a:rPr>
              <a:t>Examples: TCP, UDP</a:t>
            </a:r>
          </a:p>
          <a:p>
            <a:pPr marL="0" indent="0">
              <a:buNone/>
            </a:pPr>
            <a:endParaRPr lang="en-US"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9426EEF7-B005-4926-9DF9-6CB0296B93C6}" type="slidenum">
              <a:rPr lang="en-US" smtClean="0"/>
              <a:t>48</a:t>
            </a:fld>
            <a:endParaRPr lang="en-US"/>
          </a:p>
        </p:txBody>
      </p:sp>
    </p:spTree>
    <p:extLst>
      <p:ext uri="{BB962C8B-B14F-4D97-AF65-F5344CB8AC3E}">
        <p14:creationId xmlns:p14="http://schemas.microsoft.com/office/powerpoint/2010/main" val="3610865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a:bodyPr>
          <a:lstStyle/>
          <a:p>
            <a:pPr marL="0" indent="0" algn="ctr">
              <a:buNone/>
            </a:pPr>
            <a:r>
              <a:rPr lang="en-US" b="1" dirty="0">
                <a:solidFill>
                  <a:srgbClr val="C00000"/>
                </a:solidFill>
                <a:latin typeface="Times New Roman" panose="02020603050405020304" pitchFamily="18" charset="0"/>
                <a:cs typeface="Times New Roman" panose="02020603050405020304" pitchFamily="18" charset="0"/>
              </a:rPr>
              <a:t>Session Layer</a:t>
            </a:r>
          </a:p>
          <a:p>
            <a:r>
              <a:rPr lang="en-US" sz="2000" dirty="0">
                <a:latin typeface="Times New Roman" panose="02020603050405020304" pitchFamily="18" charset="0"/>
                <a:cs typeface="Times New Roman" panose="02020603050405020304" pitchFamily="18" charset="0"/>
              </a:rPr>
              <a:t>Manages sessions between applications</a:t>
            </a:r>
          </a:p>
          <a:p>
            <a:r>
              <a:rPr lang="en-US" sz="2000" dirty="0">
                <a:latin typeface="Times New Roman" panose="02020603050405020304" pitchFamily="18" charset="0"/>
                <a:cs typeface="Times New Roman" panose="02020603050405020304" pitchFamily="18" charset="0"/>
              </a:rPr>
              <a:t>Controls session establishment, maintenance, and termination</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Presentation Layer</a:t>
            </a:r>
          </a:p>
          <a:p>
            <a:r>
              <a:rPr lang="en-US" sz="2000" dirty="0">
                <a:latin typeface="Times New Roman" panose="02020603050405020304" pitchFamily="18" charset="0"/>
                <a:cs typeface="Times New Roman" panose="02020603050405020304" pitchFamily="18" charset="0"/>
              </a:rPr>
              <a:t>Translates, encrypts, and compresses data</a:t>
            </a:r>
          </a:p>
          <a:p>
            <a:r>
              <a:rPr lang="en-US" sz="2000" dirty="0">
                <a:latin typeface="Times New Roman" panose="02020603050405020304" pitchFamily="18" charset="0"/>
                <a:cs typeface="Times New Roman" panose="02020603050405020304" pitchFamily="18" charset="0"/>
              </a:rPr>
              <a:t>Ensures data format compatibility</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Application Layer</a:t>
            </a:r>
          </a:p>
          <a:p>
            <a:r>
              <a:rPr lang="en-US" sz="2000" dirty="0">
                <a:latin typeface="Times New Roman" panose="02020603050405020304" pitchFamily="18" charset="0"/>
                <a:cs typeface="Times New Roman" panose="02020603050405020304" pitchFamily="18" charset="0"/>
              </a:rPr>
              <a:t>Provides network services to end-user applications</a:t>
            </a:r>
          </a:p>
          <a:p>
            <a:pPr marL="457200" lvl="1" indent="0">
              <a:buNone/>
            </a:pPr>
            <a:r>
              <a:rPr lang="en-US" sz="1800" b="1" dirty="0">
                <a:latin typeface="Times New Roman" panose="02020603050405020304" pitchFamily="18" charset="0"/>
                <a:cs typeface="Times New Roman" panose="02020603050405020304" pitchFamily="18" charset="0"/>
              </a:rPr>
              <a:t>Examples: HTTP, FTP, SMTP, DNS</a:t>
            </a:r>
          </a:p>
        </p:txBody>
      </p:sp>
      <p:sp>
        <p:nvSpPr>
          <p:cNvPr id="2" name="Slide Number Placeholder 1"/>
          <p:cNvSpPr>
            <a:spLocks noGrp="1"/>
          </p:cNvSpPr>
          <p:nvPr>
            <p:ph type="sldNum" sz="quarter" idx="12"/>
          </p:nvPr>
        </p:nvSpPr>
        <p:spPr/>
        <p:txBody>
          <a:bodyPr/>
          <a:lstStyle/>
          <a:p>
            <a:fld id="{9426EEF7-B005-4926-9DF9-6CB0296B93C6}" type="slidenum">
              <a:rPr lang="en-US" smtClean="0"/>
              <a:t>49</a:t>
            </a:fld>
            <a:endParaRPr lang="en-US"/>
          </a:p>
        </p:txBody>
      </p:sp>
    </p:spTree>
    <p:extLst>
      <p:ext uri="{BB962C8B-B14F-4D97-AF65-F5344CB8AC3E}">
        <p14:creationId xmlns:p14="http://schemas.microsoft.com/office/powerpoint/2010/main" val="39845785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a:bodyPr>
          <a:lstStyle/>
          <a:p>
            <a:pPr marL="0" indent="0" algn="ctr">
              <a:buNone/>
            </a:pPr>
            <a:r>
              <a:rPr lang="en-US" sz="3200" b="1" i="0" dirty="0">
                <a:effectLst/>
                <a:latin typeface="Arial Black" panose="020B0A04020102020204" pitchFamily="34" charset="0"/>
              </a:rPr>
              <a:t>TCP/IP Model</a:t>
            </a:r>
          </a:p>
          <a:p>
            <a:pPr marL="0" indent="0">
              <a:lnSpc>
                <a:spcPct val="150000"/>
              </a:lnSpc>
              <a:buNone/>
            </a:pPr>
            <a:r>
              <a:rPr lang="en-US" sz="2000" b="0" i="0" dirty="0">
                <a:effectLst/>
                <a:latin typeface="Times New Roman" panose="02020603050405020304" pitchFamily="18" charset="0"/>
                <a:cs typeface="Times New Roman" panose="02020603050405020304" pitchFamily="18" charset="0"/>
              </a:rPr>
              <a:t>The TCP/IP (Transmission Control Protocol/Internet Protocol) Model is a 5-layer practical networking framework used for real-world communication, especially on the Internet. </a:t>
            </a:r>
          </a:p>
          <a:p>
            <a:pPr marL="0" indent="0">
              <a:lnSpc>
                <a:spcPct val="150000"/>
              </a:lnSpc>
              <a:buNone/>
            </a:pPr>
            <a:r>
              <a:rPr lang="en-US" sz="2000" b="0" i="0" dirty="0">
                <a:effectLst/>
                <a:latin typeface="Times New Roman" panose="02020603050405020304" pitchFamily="18" charset="0"/>
                <a:cs typeface="Times New Roman" panose="02020603050405020304" pitchFamily="18" charset="0"/>
              </a:rPr>
              <a:t>It defines how data is packaged, addressed, transmitted, routed, and received across networks.</a:t>
            </a:r>
          </a:p>
          <a:p>
            <a:pPr marL="0" indent="0" algn="ctr">
              <a:lnSpc>
                <a:spcPct val="150000"/>
              </a:lnSpc>
              <a:buNone/>
            </a:pPr>
            <a:r>
              <a:rPr lang="en-US" b="1" dirty="0">
                <a:solidFill>
                  <a:srgbClr val="C00000"/>
                </a:solidFill>
                <a:latin typeface="Times New Roman" panose="02020603050405020304" pitchFamily="18" charset="0"/>
                <a:cs typeface="Times New Roman" panose="02020603050405020304" pitchFamily="18" charset="0"/>
              </a:rPr>
              <a:t>Network Access Layer</a:t>
            </a:r>
          </a:p>
          <a:p>
            <a:pPr>
              <a:lnSpc>
                <a:spcPct val="150000"/>
              </a:lnSpc>
            </a:pPr>
            <a:r>
              <a:rPr lang="en-US" sz="2000" dirty="0">
                <a:latin typeface="Times New Roman" panose="02020603050405020304" pitchFamily="18" charset="0"/>
                <a:cs typeface="Times New Roman" panose="02020603050405020304" pitchFamily="18" charset="0"/>
              </a:rPr>
              <a:t>Combines OSI Physical and Data Link layers</a:t>
            </a:r>
          </a:p>
          <a:p>
            <a:pPr>
              <a:lnSpc>
                <a:spcPct val="150000"/>
              </a:lnSpc>
            </a:pPr>
            <a:r>
              <a:rPr lang="en-US" sz="2000" dirty="0">
                <a:latin typeface="Times New Roman" panose="02020603050405020304" pitchFamily="18" charset="0"/>
                <a:cs typeface="Times New Roman" panose="02020603050405020304" pitchFamily="18" charset="0"/>
              </a:rPr>
              <a:t>Handles hardware addressing and physical transmission</a:t>
            </a:r>
          </a:p>
          <a:p>
            <a:pPr marL="457200" lvl="1" indent="0">
              <a:lnSpc>
                <a:spcPct val="150000"/>
              </a:lnSpc>
              <a:buNone/>
            </a:pPr>
            <a:r>
              <a:rPr lang="en-US" sz="2000" b="1" dirty="0">
                <a:latin typeface="Times New Roman" panose="02020603050405020304" pitchFamily="18" charset="0"/>
                <a:cs typeface="Times New Roman" panose="02020603050405020304" pitchFamily="18" charset="0"/>
              </a:rPr>
              <a:t>Examples: Ethernet, Wi-Fi</a:t>
            </a:r>
          </a:p>
        </p:txBody>
      </p:sp>
      <p:sp>
        <p:nvSpPr>
          <p:cNvPr id="2" name="Slide Number Placeholder 1"/>
          <p:cNvSpPr>
            <a:spLocks noGrp="1"/>
          </p:cNvSpPr>
          <p:nvPr>
            <p:ph type="sldNum" sz="quarter" idx="12"/>
          </p:nvPr>
        </p:nvSpPr>
        <p:spPr/>
        <p:txBody>
          <a:bodyPr/>
          <a:lstStyle/>
          <a:p>
            <a:fld id="{9426EEF7-B005-4926-9DF9-6CB0296B93C6}" type="slidenum">
              <a:rPr lang="en-US" smtClean="0"/>
              <a:t>50</a:t>
            </a:fld>
            <a:endParaRPr lang="en-US"/>
          </a:p>
        </p:txBody>
      </p:sp>
    </p:spTree>
    <p:extLst>
      <p:ext uri="{BB962C8B-B14F-4D97-AF65-F5344CB8AC3E}">
        <p14:creationId xmlns:p14="http://schemas.microsoft.com/office/powerpoint/2010/main" val="961778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335027"/>
            <a:ext cx="11766848" cy="6386447"/>
          </a:xfrm>
        </p:spPr>
        <p:txBody>
          <a:bodyPr>
            <a:normAutofit/>
          </a:bodyPr>
          <a:lstStyle/>
          <a:p>
            <a:pPr marL="0" indent="0" algn="ctr">
              <a:buNone/>
            </a:pPr>
            <a:r>
              <a:rPr lang="en-US" sz="3200" b="1" dirty="0">
                <a:solidFill>
                  <a:srgbClr val="C00000"/>
                </a:solidFill>
                <a:latin typeface="Times New Roman" panose="02020603050405020304" pitchFamily="18" charset="0"/>
                <a:cs typeface="Times New Roman" panose="02020603050405020304" pitchFamily="18" charset="0"/>
              </a:rPr>
              <a:t>Internet Layer</a:t>
            </a:r>
          </a:p>
          <a:p>
            <a:r>
              <a:rPr lang="en-US" sz="2000" dirty="0">
                <a:latin typeface="Times New Roman" panose="02020603050405020304" pitchFamily="18" charset="0"/>
                <a:cs typeface="Times New Roman" panose="02020603050405020304" pitchFamily="18" charset="0"/>
              </a:rPr>
              <a:t>Responsible for logical addressing and routing</a:t>
            </a:r>
          </a:p>
          <a:p>
            <a:pPr marL="457200" lvl="1" indent="0">
              <a:buNone/>
            </a:pPr>
            <a:r>
              <a:rPr lang="en-US" sz="1800" b="1" dirty="0">
                <a:latin typeface="Times New Roman" panose="02020603050405020304" pitchFamily="18" charset="0"/>
                <a:cs typeface="Times New Roman" panose="02020603050405020304" pitchFamily="18" charset="0"/>
              </a:rPr>
              <a:t>Examples: IP, ICMP, ARP</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Transport Layer</a:t>
            </a:r>
          </a:p>
          <a:p>
            <a:r>
              <a:rPr lang="en-US" sz="2000" dirty="0">
                <a:latin typeface="Times New Roman" panose="02020603050405020304" pitchFamily="18" charset="0"/>
                <a:cs typeface="Times New Roman" panose="02020603050405020304" pitchFamily="18" charset="0"/>
              </a:rPr>
              <a:t>Ensures end-to-end communication</a:t>
            </a:r>
            <a:endParaRPr lang="en-US" dirty="0">
              <a:latin typeface="Times New Roman" panose="02020603050405020304" pitchFamily="18" charset="0"/>
              <a:cs typeface="Times New Roman" panose="02020603050405020304" pitchFamily="18" charset="0"/>
            </a:endParaRPr>
          </a:p>
          <a:p>
            <a:pPr marL="457200" lvl="1" indent="0">
              <a:buNone/>
            </a:pPr>
            <a:r>
              <a:rPr lang="en-US" sz="2000" b="1" dirty="0">
                <a:latin typeface="Times New Roman" panose="02020603050405020304" pitchFamily="18" charset="0"/>
                <a:cs typeface="Times New Roman" panose="02020603050405020304" pitchFamily="18" charset="0"/>
              </a:rPr>
              <a:t>Examples: TCP, UDP</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C00000"/>
                </a:solidFill>
                <a:latin typeface="Times New Roman" panose="02020603050405020304" pitchFamily="18" charset="0"/>
                <a:cs typeface="Times New Roman" panose="02020603050405020304" pitchFamily="18" charset="0"/>
              </a:rPr>
              <a:t>Application Layer</a:t>
            </a:r>
          </a:p>
          <a:p>
            <a:r>
              <a:rPr lang="en-US" sz="2000" dirty="0">
                <a:latin typeface="Times New Roman" panose="02020603050405020304" pitchFamily="18" charset="0"/>
                <a:cs typeface="Times New Roman" panose="02020603050405020304" pitchFamily="18" charset="0"/>
              </a:rPr>
              <a:t>Combines OSI Session, Presentation, and Application layers</a:t>
            </a:r>
          </a:p>
          <a:p>
            <a:pPr marL="457200" lvl="1" indent="0">
              <a:buNone/>
            </a:pPr>
            <a:r>
              <a:rPr lang="en-US" sz="2000" b="1" dirty="0">
                <a:latin typeface="Times New Roman" panose="02020603050405020304" pitchFamily="18" charset="0"/>
                <a:cs typeface="Times New Roman" panose="02020603050405020304" pitchFamily="18" charset="0"/>
              </a:rPr>
              <a:t>Examples: HTTP, FTP, SMTP, DNS</a:t>
            </a:r>
          </a:p>
        </p:txBody>
      </p:sp>
      <p:sp>
        <p:nvSpPr>
          <p:cNvPr id="2" name="Slide Number Placeholder 1"/>
          <p:cNvSpPr>
            <a:spLocks noGrp="1"/>
          </p:cNvSpPr>
          <p:nvPr>
            <p:ph type="sldNum" sz="quarter" idx="12"/>
          </p:nvPr>
        </p:nvSpPr>
        <p:spPr/>
        <p:txBody>
          <a:bodyPr/>
          <a:lstStyle/>
          <a:p>
            <a:fld id="{9426EEF7-B005-4926-9DF9-6CB0296B93C6}" type="slidenum">
              <a:rPr lang="en-US" smtClean="0"/>
              <a:t>51</a:t>
            </a:fld>
            <a:endParaRPr lang="en-US"/>
          </a:p>
        </p:txBody>
      </p:sp>
    </p:spTree>
    <p:extLst>
      <p:ext uri="{BB962C8B-B14F-4D97-AF65-F5344CB8AC3E}">
        <p14:creationId xmlns:p14="http://schemas.microsoft.com/office/powerpoint/2010/main" val="42576843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4633" y="293915"/>
            <a:ext cx="11766848" cy="6427560"/>
          </a:xfrm>
        </p:spPr>
        <p:txBody>
          <a:bodyPr>
            <a:normAutofit/>
          </a:bodyPr>
          <a:lstStyle/>
          <a:p>
            <a:pPr marL="0" indent="0" algn="ctr">
              <a:buNone/>
            </a:pPr>
            <a:r>
              <a:rPr lang="en-US" sz="3200" b="1" dirty="0">
                <a:latin typeface="Arial Black" panose="020B0A04020102020204" pitchFamily="34" charset="0"/>
              </a:rPr>
              <a:t>Network Media and Topologies</a:t>
            </a:r>
            <a:endParaRPr lang="en-US" sz="3200" b="1" dirty="0">
              <a:latin typeface="Arial Black" panose="020B0A04020102020204" pitchFamily="34"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1. Network Media</a:t>
            </a:r>
            <a:endParaRPr lang="en-US" dirty="0">
              <a:latin typeface="Times New Roman" panose="02020603050405020304" pitchFamily="18" charset="0"/>
              <a:cs typeface="Times New Roman" panose="02020603050405020304" pitchFamily="18" charset="0"/>
            </a:endParaRPr>
          </a:p>
          <a:p>
            <a:pPr marL="0" indent="0">
              <a:lnSpc>
                <a:spcPct val="160000"/>
              </a:lnSpc>
              <a:buNone/>
            </a:pPr>
            <a:r>
              <a:rPr lang="en-US" sz="2000" dirty="0">
                <a:latin typeface="Times New Roman" panose="02020603050405020304" pitchFamily="18" charset="0"/>
                <a:cs typeface="Times New Roman" panose="02020603050405020304" pitchFamily="18" charset="0"/>
              </a:rPr>
              <a:t>Network media are the physical or wireless pathways through which data travels between devices in a network. Choosing the right media is essential for performance, reliability, and scalability</a:t>
            </a:r>
            <a:r>
              <a:rPr lang="en-US" sz="2400" dirty="0">
                <a:latin typeface="Times New Roman" panose="02020603050405020304" pitchFamily="18" charset="0"/>
                <a:cs typeface="Times New Roman" panose="02020603050405020304" pitchFamily="18" charset="0"/>
              </a:rPr>
              <a:t>.</a:t>
            </a:r>
          </a:p>
          <a:p>
            <a:pPr marL="0" indent="0" algn="ctr">
              <a:buNone/>
            </a:pPr>
            <a:r>
              <a:rPr lang="en-US" sz="2600" b="1" dirty="0">
                <a:latin typeface="Times New Roman" panose="02020603050405020304" pitchFamily="18" charset="0"/>
                <a:cs typeface="Times New Roman" panose="02020603050405020304" pitchFamily="18" charset="0"/>
              </a:rPr>
              <a:t>Types of Network Media</a:t>
            </a:r>
          </a:p>
          <a:p>
            <a:pPr marL="0" indent="0">
              <a:buNone/>
            </a:pPr>
            <a:r>
              <a:rPr lang="en-US" sz="2600" b="1" dirty="0">
                <a:latin typeface="Times New Roman" panose="02020603050405020304" pitchFamily="18" charset="0"/>
                <a:cs typeface="Times New Roman" panose="02020603050405020304" pitchFamily="18" charset="0"/>
              </a:rPr>
              <a:t>1. </a:t>
            </a:r>
            <a:r>
              <a:rPr lang="en-US" sz="2400" b="1" dirty="0">
                <a:latin typeface="Times New Roman" panose="02020603050405020304" pitchFamily="18" charset="0"/>
                <a:cs typeface="Times New Roman" panose="02020603050405020304" pitchFamily="18" charset="0"/>
              </a:rPr>
              <a:t>Wired Media</a:t>
            </a:r>
          </a:p>
          <a:p>
            <a:pPr lvl="1">
              <a:buFont typeface="Wingdings" panose="05000000000000000000" pitchFamily="2" charset="2"/>
              <a:buChar char="v"/>
            </a:pPr>
            <a:r>
              <a:rPr lang="en-US" sz="2000" b="1" dirty="0">
                <a:solidFill>
                  <a:srgbClr val="C00000"/>
                </a:solidFill>
                <a:latin typeface="Times New Roman" panose="02020603050405020304" pitchFamily="18" charset="0"/>
                <a:cs typeface="Times New Roman" panose="02020603050405020304" pitchFamily="18" charset="0"/>
              </a:rPr>
              <a:t>Twisted Pair Cable (UTP/STP)</a:t>
            </a:r>
          </a:p>
          <a:p>
            <a:pPr lvl="2">
              <a:lnSpc>
                <a:spcPct val="11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Most common for LANs.</a:t>
            </a:r>
          </a:p>
          <a:p>
            <a:pPr lvl="2">
              <a:lnSpc>
                <a:spcPct val="11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UTP (Unshielded Twisted Pair) – cheaper, less protected from interference.</a:t>
            </a:r>
          </a:p>
          <a:p>
            <a:pPr lvl="2">
              <a:lnSpc>
                <a:spcPct val="110000"/>
              </a:lnSpc>
              <a:buFont typeface="Wingdings" panose="05000000000000000000" pitchFamily="2" charset="2"/>
              <a:buChar char="ü"/>
            </a:pPr>
            <a:r>
              <a:rPr lang="en-US" dirty="0">
                <a:latin typeface="Times New Roman" panose="02020603050405020304" pitchFamily="18" charset="0"/>
                <a:cs typeface="Times New Roman" panose="02020603050405020304" pitchFamily="18" charset="0"/>
              </a:rPr>
              <a:t>STP (Shielded Twisted Pair) – has shielding to reduce electromagnetic interference.</a:t>
            </a:r>
          </a:p>
          <a:p>
            <a:pPr marL="1828800" lvl="4" indent="0">
              <a:lnSpc>
                <a:spcPct val="110000"/>
              </a:lnSpc>
              <a:buNone/>
            </a:pPr>
            <a:r>
              <a:rPr lang="en-US" b="1" dirty="0">
                <a:latin typeface="Times New Roman" panose="02020603050405020304" pitchFamily="18" charset="0"/>
                <a:cs typeface="Times New Roman" panose="02020603050405020304" pitchFamily="18" charset="0"/>
              </a:rPr>
              <a:t>Examples: </a:t>
            </a:r>
            <a:r>
              <a:rPr lang="en-US" dirty="0">
                <a:latin typeface="Times New Roman" panose="02020603050405020304" pitchFamily="18" charset="0"/>
                <a:cs typeface="Times New Roman" panose="02020603050405020304" pitchFamily="18" charset="0"/>
              </a:rPr>
              <a:t>Cat5e, Cat6, Cat6a.</a:t>
            </a:r>
          </a:p>
        </p:txBody>
      </p:sp>
      <p:sp>
        <p:nvSpPr>
          <p:cNvPr id="2" name="Slide Number Placeholder 1"/>
          <p:cNvSpPr>
            <a:spLocks noGrp="1"/>
          </p:cNvSpPr>
          <p:nvPr>
            <p:ph type="sldNum" sz="quarter" idx="12"/>
          </p:nvPr>
        </p:nvSpPr>
        <p:spPr/>
        <p:txBody>
          <a:bodyPr/>
          <a:lstStyle/>
          <a:p>
            <a:fld id="{9426EEF7-B005-4926-9DF9-6CB0296B93C6}" type="slidenum">
              <a:rPr lang="en-US" smtClean="0"/>
              <a:t>52</a:t>
            </a:fld>
            <a:endParaRPr lang="en-US"/>
          </a:p>
        </p:txBody>
      </p:sp>
    </p:spTree>
    <p:extLst>
      <p:ext uri="{BB962C8B-B14F-4D97-AF65-F5344CB8AC3E}">
        <p14:creationId xmlns:p14="http://schemas.microsoft.com/office/powerpoint/2010/main" val="28479616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3914" y="514189"/>
            <a:ext cx="11767457" cy="5842162"/>
          </a:xfrm>
        </p:spPr>
        <p:txBody>
          <a:bodyPr>
            <a:normAutofit lnSpcReduction="10000"/>
          </a:bodyPr>
          <a:lstStyle/>
          <a:p>
            <a:pPr marL="0" indent="0" algn="ctr">
              <a:buNone/>
            </a:pPr>
            <a:r>
              <a:rPr lang="en-US" b="1" dirty="0">
                <a:latin typeface="Times New Roman" panose="02020603050405020304" pitchFamily="18" charset="0"/>
                <a:cs typeface="Times New Roman" panose="02020603050405020304" pitchFamily="18" charset="0"/>
              </a:rPr>
              <a:t>Coaxial Cable</a:t>
            </a:r>
          </a:p>
          <a:p>
            <a:r>
              <a:rPr lang="en-US" sz="2000" dirty="0">
                <a:latin typeface="Times New Roman" panose="02020603050405020304" pitchFamily="18" charset="0"/>
                <a:cs typeface="Times New Roman" panose="02020603050405020304" pitchFamily="18" charset="0"/>
              </a:rPr>
              <a:t>Used in older networks and some broadband connections.</a:t>
            </a:r>
          </a:p>
          <a:p>
            <a:r>
              <a:rPr lang="en-US" sz="2000" dirty="0">
                <a:latin typeface="Times New Roman" panose="02020603050405020304" pitchFamily="18" charset="0"/>
                <a:cs typeface="Times New Roman" panose="02020603050405020304" pitchFamily="18" charset="0"/>
              </a:rPr>
              <a:t>Resistant to interference, carries signals over longer distances.</a:t>
            </a:r>
          </a:p>
          <a:p>
            <a:pPr marL="457200" lvl="1"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Fiber Optic Cable</a:t>
            </a:r>
          </a:p>
          <a:p>
            <a:r>
              <a:rPr lang="en-US" sz="2000" dirty="0">
                <a:latin typeface="Times New Roman" panose="02020603050405020304" pitchFamily="18" charset="0"/>
                <a:cs typeface="Times New Roman" panose="02020603050405020304" pitchFamily="18" charset="0"/>
              </a:rPr>
              <a:t>Transmits data as light pulses.</a:t>
            </a:r>
          </a:p>
          <a:p>
            <a:r>
              <a:rPr lang="en-US" sz="2000" dirty="0">
                <a:latin typeface="Times New Roman" panose="02020603050405020304" pitchFamily="18" charset="0"/>
                <a:cs typeface="Times New Roman" panose="02020603050405020304" pitchFamily="18" charset="0"/>
              </a:rPr>
              <a:t>High speed, long-distance communication, immune to electromagnetic interference.</a:t>
            </a:r>
          </a:p>
          <a:p>
            <a:r>
              <a:rPr lang="en-US" sz="2000" b="1" dirty="0">
                <a:latin typeface="Times New Roman" panose="02020603050405020304" pitchFamily="18" charset="0"/>
                <a:cs typeface="Times New Roman" panose="02020603050405020304" pitchFamily="18" charset="0"/>
              </a:rPr>
              <a:t>Types: </a:t>
            </a:r>
            <a:r>
              <a:rPr lang="en-US" sz="2000" dirty="0">
                <a:latin typeface="Times New Roman" panose="02020603050405020304" pitchFamily="18" charset="0"/>
                <a:cs typeface="Times New Roman" panose="02020603050405020304" pitchFamily="18" charset="0"/>
              </a:rPr>
              <a:t>Single-mode (long distance) and Multi-mode (shorter distance).</a:t>
            </a:r>
          </a:p>
          <a:p>
            <a:pPr marL="457200" lvl="1"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b="1" dirty="0">
                <a:latin typeface="Times New Roman" panose="02020603050405020304" pitchFamily="18" charset="0"/>
                <a:cs typeface="Times New Roman" panose="02020603050405020304" pitchFamily="18" charset="0"/>
              </a:rPr>
              <a:t>Wireless Media</a:t>
            </a:r>
          </a:p>
          <a:p>
            <a:r>
              <a:rPr lang="en-US" sz="2000" dirty="0">
                <a:latin typeface="Times New Roman" panose="02020603050405020304" pitchFamily="18" charset="0"/>
                <a:cs typeface="Times New Roman" panose="02020603050405020304" pitchFamily="18" charset="0"/>
              </a:rPr>
              <a:t>Uses radio waves, microwaves, or infrared to transmit data.</a:t>
            </a:r>
          </a:p>
          <a:p>
            <a:r>
              <a:rPr lang="en-US" sz="2000" dirty="0">
                <a:latin typeface="Times New Roman" panose="02020603050405020304" pitchFamily="18" charset="0"/>
                <a:cs typeface="Times New Roman" panose="02020603050405020304" pitchFamily="18" charset="0"/>
              </a:rPr>
              <a:t>Common wireless technologies: Wi-Fi (802.11), Bluetooth, LTE, 5G.</a:t>
            </a:r>
          </a:p>
          <a:p>
            <a:r>
              <a:rPr lang="en-US" sz="2000" dirty="0">
                <a:latin typeface="Times New Roman" panose="02020603050405020304" pitchFamily="18" charset="0"/>
                <a:cs typeface="Times New Roman" panose="02020603050405020304" pitchFamily="18" charset="0"/>
              </a:rPr>
              <a:t>Advantages: Mobility, flexibility.</a:t>
            </a:r>
          </a:p>
          <a:p>
            <a:r>
              <a:rPr lang="en-US" sz="2000" dirty="0">
                <a:latin typeface="Times New Roman" panose="02020603050405020304" pitchFamily="18" charset="0"/>
                <a:cs typeface="Times New Roman" panose="02020603050405020304" pitchFamily="18" charset="0"/>
              </a:rPr>
              <a:t>Disadvantages: Interference, security risks, limited distance.</a:t>
            </a:r>
          </a:p>
        </p:txBody>
      </p:sp>
      <p:sp>
        <p:nvSpPr>
          <p:cNvPr id="2" name="Slide Number Placeholder 1"/>
          <p:cNvSpPr>
            <a:spLocks noGrp="1"/>
          </p:cNvSpPr>
          <p:nvPr>
            <p:ph type="sldNum" sz="quarter" idx="12"/>
          </p:nvPr>
        </p:nvSpPr>
        <p:spPr/>
        <p:txBody>
          <a:bodyPr/>
          <a:lstStyle/>
          <a:p>
            <a:fld id="{9426EEF7-B005-4926-9DF9-6CB0296B93C6}" type="slidenum">
              <a:rPr lang="en-US" smtClean="0"/>
              <a:t>53</a:t>
            </a:fld>
            <a:endParaRPr lang="en-US"/>
          </a:p>
        </p:txBody>
      </p:sp>
    </p:spTree>
    <p:extLst>
      <p:ext uri="{BB962C8B-B14F-4D97-AF65-F5344CB8AC3E}">
        <p14:creationId xmlns:p14="http://schemas.microsoft.com/office/powerpoint/2010/main" val="9730633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5204" y="1697815"/>
            <a:ext cx="10515600" cy="4352789"/>
          </a:xfrm>
        </p:spPr>
        <p:txBody>
          <a:bodyPr>
            <a:noAutofit/>
          </a:bodyPr>
          <a:lstStyle/>
          <a:p>
            <a:pPr algn="ctr"/>
            <a:r>
              <a:rPr lang="en-US" sz="28700" dirty="0">
                <a:solidFill>
                  <a:srgbClr val="FF0000"/>
                </a:solidFill>
                <a:latin typeface="Arial Black" panose="020B0A04020102020204" pitchFamily="34" charset="0"/>
              </a:rPr>
              <a:t>END</a:t>
            </a:r>
            <a:r>
              <a:rPr lang="en-US" sz="4000" dirty="0">
                <a:latin typeface="Times New Roman" panose="02020603050405020304" pitchFamily="18" charset="0"/>
                <a:cs typeface="Times New Roman" panose="02020603050405020304" pitchFamily="18" charset="0"/>
              </a:rPr>
              <a:t>.</a:t>
            </a:r>
            <a:endParaRPr lang="en-US" sz="287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26EEF7-B005-4926-9DF9-6CB0296B93C6}" type="slidenum">
              <a:rPr lang="en-US" smtClean="0"/>
              <a:t>54</a:t>
            </a:fld>
            <a:endParaRPr lang="en-US"/>
          </a:p>
        </p:txBody>
      </p:sp>
    </p:spTree>
    <p:extLst>
      <p:ext uri="{BB962C8B-B14F-4D97-AF65-F5344CB8AC3E}">
        <p14:creationId xmlns:p14="http://schemas.microsoft.com/office/powerpoint/2010/main" val="2450592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2649</TotalTime>
  <Words>4437</Words>
  <Application>Microsoft Office PowerPoint</Application>
  <PresentationFormat>Widescreen</PresentationFormat>
  <Paragraphs>400</Paragraphs>
  <Slides>54</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Arial</vt:lpstr>
      <vt:lpstr>Arial Black</vt:lpstr>
      <vt:lpstr>Arial Rounded MT Bold</vt:lpstr>
      <vt:lpstr>Calibri</vt:lpstr>
      <vt:lpstr>Calibri Light</vt:lpstr>
      <vt:lpstr>Times New Roman</vt:lpstr>
      <vt:lpstr>Wingdings</vt:lpstr>
      <vt:lpstr>Office Theme</vt:lpstr>
      <vt:lpstr>Timacade University Department of ICT</vt:lpstr>
      <vt:lpstr>What Is a Network Administration?</vt:lpstr>
      <vt:lpstr>PowerPoint Presentation</vt:lpstr>
      <vt:lpstr>What does a network administrator do?</vt:lpstr>
      <vt:lpstr>Who is Network administrator?</vt:lpstr>
      <vt:lpstr>Administrator Responsibilities </vt:lpstr>
      <vt:lpstr>PowerPoint Presentation</vt:lpstr>
      <vt:lpstr>VPN? (Virtual Private Network)</vt:lpstr>
      <vt:lpstr>How Does a VPN Work?</vt:lpstr>
      <vt:lpstr>Types of VPNs</vt:lpstr>
      <vt:lpstr>Popular VPN Services</vt:lpstr>
      <vt:lpstr>Ethernet </vt:lpstr>
      <vt:lpstr>How Does the Internet Work?</vt:lpstr>
      <vt:lpstr>Virtual LAN </vt:lpstr>
      <vt:lpstr>Network </vt:lpstr>
      <vt:lpstr>The Purpose of Networks </vt:lpstr>
      <vt:lpstr>Cont.……</vt:lpstr>
      <vt:lpstr>Network Components </vt:lpstr>
      <vt:lpstr>PowerPoint Presentation</vt:lpstr>
      <vt:lpstr>PowerPoint Presentation</vt:lpstr>
      <vt:lpstr>Server</vt:lpstr>
      <vt:lpstr>Client</vt:lpstr>
      <vt:lpstr>Transmission Media</vt:lpstr>
      <vt:lpstr>Classified Network.</vt:lpstr>
      <vt:lpstr>Local-area network (LAN) </vt:lpstr>
      <vt:lpstr>PowerPoint Presentation</vt:lpstr>
      <vt:lpstr>Disadvantages of LAN</vt:lpstr>
      <vt:lpstr>Wide-area network (WAN)</vt:lpstr>
      <vt:lpstr>PowerPoint Presentation</vt:lpstr>
      <vt:lpstr>Disadvantages of WAN:</vt:lpstr>
      <vt:lpstr>Metropolitan-area network (MAN)</vt:lpstr>
      <vt:lpstr>PowerPoint Presentation</vt:lpstr>
      <vt:lpstr>Disadvantages of metropolitan area network (MAN)</vt:lpstr>
      <vt:lpstr>Network topology</vt:lpstr>
      <vt:lpstr>Physical network topology </vt:lpstr>
      <vt:lpstr>Types of network Topology</vt:lpstr>
      <vt:lpstr>Bus </vt:lpstr>
      <vt:lpstr>Ring</vt:lpstr>
      <vt:lpstr>Star</vt:lpstr>
      <vt:lpstr>PowerPoint Presentation</vt:lpstr>
      <vt:lpstr>Hybrid</vt:lpstr>
      <vt:lpstr>Mesh</vt:lpstr>
      <vt:lpstr>PowerPoint Presentation</vt:lpstr>
      <vt:lpstr>OSI and TCP/IP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maxamed</dc:creator>
  <cp:lastModifiedBy>Windows User</cp:lastModifiedBy>
  <cp:revision>87</cp:revision>
  <dcterms:created xsi:type="dcterms:W3CDTF">2025-03-08T07:42:04Z</dcterms:created>
  <dcterms:modified xsi:type="dcterms:W3CDTF">2026-02-10T19:07:06Z</dcterms:modified>
</cp:coreProperties>
</file>